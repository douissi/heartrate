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75" r:id="rId7"/>
    <p:sldId id="289" r:id="rId8"/>
    <p:sldId id="290" r:id="rId9"/>
    <p:sldId id="291" r:id="rId10"/>
    <p:sldId id="292" r:id="rId11"/>
    <p:sldId id="263" r:id="rId12"/>
    <p:sldId id="264" r:id="rId13"/>
    <p:sldId id="265" r:id="rId14"/>
    <p:sldId id="268" r:id="rId15"/>
    <p:sldId id="266" r:id="rId16"/>
    <p:sldId id="267" r:id="rId17"/>
    <p:sldId id="293" r:id="rId18"/>
    <p:sldId id="294" r:id="rId19"/>
    <p:sldId id="295" r:id="rId20"/>
    <p:sldId id="273" r:id="rId21"/>
    <p:sldId id="269" r:id="rId22"/>
    <p:sldId id="270" r:id="rId23"/>
    <p:sldId id="271" r:id="rId24"/>
    <p:sldId id="272" r:id="rId25"/>
    <p:sldId id="296" r:id="rId26"/>
    <p:sldId id="297" r:id="rId27"/>
    <p:sldId id="298" r:id="rId28"/>
    <p:sldId id="299" r:id="rId29"/>
    <p:sldId id="300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19" autoAdjust="0"/>
    <p:restoredTop sz="94660"/>
  </p:normalViewPr>
  <p:slideViewPr>
    <p:cSldViewPr snapToGrid="0">
      <p:cViewPr varScale="1">
        <p:scale>
          <a:sx n="74" d="100"/>
          <a:sy n="74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85F540-B231-48C5-9F6F-9898C9E6A632}" type="datetimeFigureOut">
              <a:rPr lang="fr-FR" smtClean="0"/>
              <a:t>23/05/2016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3E5B2A-B4BC-4EAD-A554-57B3154C04B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6152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E5B2A-B4BC-4EAD-A554-57B3154C04B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2564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E5B2A-B4BC-4EAD-A554-57B3154C04B9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86466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E5B2A-B4BC-4EAD-A554-57B3154C04B9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20055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3E5B2A-B4BC-4EAD-A554-57B3154C04B9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8678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510694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85513"/>
      </p:ext>
    </p:extLst>
  </p:cSld>
  <p:clrMapOvr>
    <a:masterClrMapping/>
  </p:clrMapOvr>
  <p:transition spd="med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514173"/>
      </p:ext>
    </p:extLst>
  </p:cSld>
  <p:clrMapOvr>
    <a:masterClrMapping/>
  </p:clrMapOvr>
  <p:transition spd="med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456570"/>
      </p:ext>
    </p:extLst>
  </p:cSld>
  <p:clrMapOvr>
    <a:masterClrMapping/>
  </p:clrMapOvr>
  <p:transition spd="med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825285"/>
      </p:ext>
    </p:extLst>
  </p:cSld>
  <p:clrMapOvr>
    <a:masterClrMapping/>
  </p:clrMapOvr>
  <p:transition spd="med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9330202"/>
      </p:ext>
    </p:extLst>
  </p:cSld>
  <p:clrMapOvr>
    <a:masterClrMapping/>
  </p:clrMapOvr>
  <p:transition spd="med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572640"/>
      </p:ext>
    </p:extLst>
  </p:cSld>
  <p:clrMapOvr>
    <a:masterClrMapping/>
  </p:clrMapOvr>
  <p:transition spd="med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13222"/>
      </p:ext>
    </p:extLst>
  </p:cSld>
  <p:clrMapOvr>
    <a:masterClrMapping/>
  </p:clrMapOvr>
  <p:transition spd="med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218610"/>
      </p:ext>
    </p:extLst>
  </p:cSld>
  <p:clrMapOvr>
    <a:masterClrMapping/>
  </p:clrMapOvr>
  <p:transition spd="med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44204"/>
      </p:ext>
    </p:extLst>
  </p:cSld>
  <p:clrMapOvr>
    <a:masterClrMapping/>
  </p:clrMapOvr>
  <p:transition spd="med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9673482"/>
      </p:ext>
    </p:extLst>
  </p:cSld>
  <p:clrMapOvr>
    <a:masterClrMapping/>
  </p:clrMapOvr>
  <p:transition spd="med"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261104"/>
      </p:ext>
    </p:extLst>
  </p:cSld>
  <p:clrMapOvr>
    <a:masterClrMapping/>
  </p:clrMapOvr>
  <p:transition spd="med"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2186720"/>
      </p:ext>
    </p:extLst>
  </p:cSld>
  <p:clrMapOvr>
    <a:masterClrMapping/>
  </p:clrMapOvr>
  <p:transition spd="med">
    <p:pull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42704"/>
      </p:ext>
    </p:extLst>
  </p:cSld>
  <p:clrMapOvr>
    <a:masterClrMapping/>
  </p:clrMapOvr>
  <p:transition spd="med">
    <p:pull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2595755"/>
      </p:ext>
    </p:extLst>
  </p:cSld>
  <p:clrMapOvr>
    <a:masterClrMapping/>
  </p:clrMapOvr>
  <p:transition spd="med">
    <p:pull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3106605"/>
      </p:ext>
    </p:extLst>
  </p:cSld>
  <p:clrMapOvr>
    <a:masterClrMapping/>
  </p:clrMapOvr>
  <p:transition spd="med">
    <p:pull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56040"/>
      </p:ext>
    </p:extLst>
  </p:cSld>
  <p:clrMapOvr>
    <a:masterClrMapping/>
  </p:clrMapOvr>
  <p:transition spd="med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993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ransition spd="med">
    <p:pull/>
  </p:transition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PROJET THÉMATIQUE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ESTIMATION DU RYTHME CARDIAQUE A PARTIR D’UNE VIDÉO DE WEBCAM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8572" y="-98474"/>
            <a:ext cx="2513428" cy="1755552"/>
          </a:xfrm>
          <a:prstGeom prst="rect">
            <a:avLst/>
          </a:prstGeom>
        </p:spPr>
      </p:pic>
      <p:sp>
        <p:nvSpPr>
          <p:cNvPr id="14" name="ZoneTexte 13"/>
          <p:cNvSpPr txBox="1"/>
          <p:nvPr/>
        </p:nvSpPr>
        <p:spPr>
          <a:xfrm>
            <a:off x="113938" y="6444732"/>
            <a:ext cx="3761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Professeur encadrant : Romain TAJAN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697455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INTRODUCTION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2" y="2557463"/>
            <a:ext cx="9601196" cy="3317875"/>
          </a:xfrm>
        </p:spPr>
      </p:pic>
      <p:sp>
        <p:nvSpPr>
          <p:cNvPr id="10" name="Espace réservé de la date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19" name="Groupe 18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12" name="Groupe 11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8" name="Groupe 7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7" name="Groupe 6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3" name="Ellipse 2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28" name="Ellipse 127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29" name="Ellipse 128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132" name="Groupe 131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33" name="Ellipse 132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34" name="Ellipse 133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35" name="Ellipse 134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136" name="Groupe 135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137" name="Ellipse 136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8" name="Ellipse 137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39" name="Ellipse 138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40" name="Groupe 139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141" name="Ellipse 140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2" name="Ellipse 141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3" name="Ellipse 142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44" name="Groupe 143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145" name="Groupe 144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154" name="Groupe 153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59" name="Ellipse 158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60" name="Ellipse 159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61" name="Ellipse 160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155" name="Groupe 154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56" name="Ellipse 155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57" name="Ellipse 156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58" name="Ellipse 157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146" name="Groupe 145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151" name="Ellipse 150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2" name="Ellipse 151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3" name="Ellipse 152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47" name="Groupe 146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148" name="Ellipse 147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49" name="Ellipse 148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50" name="Ellipse 149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8" name="Groupe 17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162" name="Ellipse 161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3" name="Ellipse 162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4" name="Ellipse 163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5" name="Ellipse 164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6" name="Ellipse 165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1844745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SOMMAIRE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AutoNum type="romanUcPeriod"/>
            </a:pPr>
            <a:r>
              <a:rPr lang="fr-FR" dirty="0" smtClean="0"/>
              <a:t>PRINCIPE DE LA DÉTECTION CARDIAQUE</a:t>
            </a:r>
          </a:p>
          <a:p>
            <a:pPr marL="514350" indent="-514350">
              <a:buAutoNum type="romanUcPeriod"/>
            </a:pPr>
            <a:r>
              <a:rPr lang="fr-FR" dirty="0" smtClean="0"/>
              <a:t>PRÉSENTATION DE LA MÉTHODE PHOTO PLÉTHYSMOGRAPHIE</a:t>
            </a:r>
          </a:p>
          <a:p>
            <a:pPr marL="514350" indent="-514350">
              <a:buAutoNum type="romanUcPeriod"/>
            </a:pPr>
            <a:r>
              <a:rPr lang="fr-FR" dirty="0" smtClean="0"/>
              <a:t>PROBLÈME D’ILLUMINATION</a:t>
            </a:r>
          </a:p>
          <a:p>
            <a:pPr marL="514350" indent="-514350">
              <a:buAutoNum type="romanUcPeriod"/>
            </a:pPr>
            <a:r>
              <a:rPr lang="fr-FR" dirty="0" smtClean="0"/>
              <a:t>PROTOCOL EXPÉRIMENTAL</a:t>
            </a:r>
          </a:p>
          <a:p>
            <a:pPr marL="514350" indent="-514350">
              <a:buAutoNum type="romanUcPeriod"/>
            </a:pPr>
            <a:r>
              <a:rPr lang="fr-FR" dirty="0" smtClean="0"/>
              <a:t>SIMULATION EN TEMPS RÉELS</a:t>
            </a:r>
          </a:p>
          <a:p>
            <a:pPr marL="0" indent="0">
              <a:buNone/>
            </a:pPr>
            <a:r>
              <a:rPr lang="fr-FR" dirty="0" smtClean="0"/>
              <a:t>CONCLUSION</a:t>
            </a:r>
          </a:p>
          <a:p>
            <a:pPr marL="514350" indent="-514350">
              <a:buAutoNum type="romanUcPeriod"/>
            </a:pPr>
            <a:endParaRPr lang="fr-FR" dirty="0" smtClean="0"/>
          </a:p>
          <a:p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85" name="Groupe 84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86" name="Groupe 85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111" name="Groupe 110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120" name="Groupe 119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25" name="Ellipse 124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26" name="Ellipse 125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27" name="Ellipse 126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121" name="Groupe 120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22" name="Ellipse 121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23" name="Ellipse 122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24" name="Ellipse 123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112" name="Groupe 111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117" name="Ellipse 116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8" name="Ellipse 117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9" name="Ellipse 118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13" name="Groupe 112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114" name="Ellipse 113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5" name="Ellipse 114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6" name="Ellipse 115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87" name="Groupe 86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94" name="Groupe 93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103" name="Groupe 102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08" name="Ellipse 10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9" name="Ellipse 10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10" name="Ellipse 10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104" name="Groupe 103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05" name="Ellipse 104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6" name="Ellipse 105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7" name="Ellipse 106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95" name="Groupe 94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100" name="Ellipse 9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1" name="Ellipse 10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2" name="Ellipse 10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96" name="Groupe 95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97" name="Ellipse 96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8" name="Ellipse 97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9" name="Ellipse 98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88" name="Groupe 87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89" name="Ellipse 88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0" name="Ellipse 89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1" name="Ellipse 90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2" name="Ellipse 91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3" name="Ellipse 92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039570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PRINCIPE DE LA DÉTECTION CARDIAQUE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AutoNum type="alphaLcPeriod"/>
            </a:pPr>
            <a:r>
              <a:rPr lang="fr-FR" dirty="0" smtClean="0"/>
              <a:t>ACTIVITÉ CARDIAQUE</a:t>
            </a:r>
          </a:p>
          <a:p>
            <a:pPr marL="457200" indent="-457200">
              <a:buAutoNum type="alphaLcPeriod"/>
            </a:pPr>
            <a:r>
              <a:rPr lang="fr-FR" dirty="0" smtClean="0"/>
              <a:t>MÉTHODE DE DÉTECTION DU RYTHME CARDIAQUE</a:t>
            </a:r>
          </a:p>
          <a:p>
            <a:pPr marL="914400" lvl="1" indent="-457200">
              <a:buAutoNum type="alphaLcPeriod"/>
            </a:pPr>
            <a:r>
              <a:rPr lang="fr-FR" dirty="0" smtClean="0"/>
              <a:t>Méthode auscultatoire</a:t>
            </a:r>
          </a:p>
          <a:p>
            <a:pPr marL="914400" lvl="1" indent="-457200">
              <a:buAutoNum type="alphaLcPeriod"/>
            </a:pPr>
            <a:r>
              <a:rPr lang="fr-FR" dirty="0" smtClean="0"/>
              <a:t>Méthode de l’électrocardiographie</a:t>
            </a:r>
          </a:p>
          <a:p>
            <a:pPr marL="914400" lvl="1" indent="-457200">
              <a:buAutoNum type="alphaLcPeriod"/>
            </a:pPr>
            <a:r>
              <a:rPr lang="fr-FR" dirty="0" smtClean="0"/>
              <a:t>Doppler</a:t>
            </a:r>
          </a:p>
          <a:p>
            <a:pPr marL="457200" indent="-457200">
              <a:buAutoNum type="alphaLcPeriod"/>
            </a:pPr>
            <a:r>
              <a:rPr lang="fr-FR" dirty="0" smtClean="0"/>
              <a:t>PHOTO PLÉTHYSMOGRAPHIE</a:t>
            </a:r>
          </a:p>
          <a:p>
            <a:pPr marL="914400" lvl="1" indent="-457200">
              <a:buAutoNum type="alphaLcPeriod"/>
            </a:pPr>
            <a:r>
              <a:rPr lang="fr-FR" dirty="0" smtClean="0"/>
              <a:t>Principe</a:t>
            </a:r>
          </a:p>
          <a:p>
            <a:pPr marL="914400" lvl="1" indent="-457200">
              <a:buAutoNum type="alphaLcPeriod"/>
            </a:pPr>
            <a:r>
              <a:rPr lang="fr-FR" dirty="0" smtClean="0"/>
              <a:t>Traitement</a:t>
            </a:r>
            <a:endParaRPr lang="fr-FR" dirty="0"/>
          </a:p>
        </p:txBody>
      </p:sp>
      <p:sp>
        <p:nvSpPr>
          <p:cNvPr id="9" name="Espace réservé de la date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78" name="Groupe 77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79" name="Groupe 78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104" name="Groupe 103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113" name="Groupe 112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18" name="Ellipse 11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19" name="Ellipse 11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20" name="Ellipse 11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114" name="Groupe 113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15" name="Ellipse 114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16" name="Ellipse 115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17" name="Ellipse 116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105" name="Groupe 104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110" name="Ellipse 10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1" name="Ellipse 11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2" name="Ellipse 11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06" name="Groupe 105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107" name="Ellipse 106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8" name="Ellipse 107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9" name="Ellipse 108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80" name="Groupe 79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87" name="Groupe 86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96" name="Groupe 95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01" name="Ellipse 10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2" name="Ellipse 10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3" name="Ellipse 10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97" name="Groupe 96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98" name="Ellipse 9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99" name="Ellipse 9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0" name="Ellipse 9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88" name="Groupe 87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93" name="Ellipse 9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4" name="Ellipse 9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5" name="Ellipse 9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89" name="Groupe 88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90" name="Ellipse 8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1" name="Ellipse 9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2" name="Ellipse 9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81" name="Groupe 80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82" name="Ellipse 81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3" name="Ellipse 82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4" name="Ellipse 83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5" name="Ellipse 84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6" name="Ellipse 85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3226675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ACTIVITÉ CARDIAQUE</a:t>
            </a:r>
            <a:endParaRPr lang="fr-FR" dirty="0"/>
          </a:p>
        </p:txBody>
      </p:sp>
      <p:pic>
        <p:nvPicPr>
          <p:cNvPr id="12" name="Espace réservé du contenu 11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1" y="2552650"/>
            <a:ext cx="4978790" cy="3317876"/>
          </a:xfrm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5</a:t>
            </a:fld>
            <a:endParaRPr lang="en-US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191" y="2552651"/>
            <a:ext cx="4622408" cy="3317875"/>
          </a:xfrm>
          <a:prstGeom prst="rect">
            <a:avLst/>
          </a:prstGeom>
        </p:spPr>
      </p:pic>
      <p:grpSp>
        <p:nvGrpSpPr>
          <p:cNvPr id="81" name="Groupe 80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82" name="Groupe 81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107" name="Groupe 106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116" name="Groupe 115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21" name="Ellipse 12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22" name="Ellipse 12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23" name="Ellipse 12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117" name="Groupe 116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18" name="Ellipse 11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19" name="Ellipse 11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20" name="Ellipse 11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108" name="Groupe 107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113" name="Ellipse 11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4" name="Ellipse 11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5" name="Ellipse 11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09" name="Groupe 108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110" name="Ellipse 10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1" name="Ellipse 11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2" name="Ellipse 11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83" name="Groupe 82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90" name="Groupe 89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99" name="Groupe 98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04" name="Ellipse 103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5" name="Ellipse 104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6" name="Ellipse 105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100" name="Groupe 99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01" name="Ellipse 10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2" name="Ellipse 10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3" name="Ellipse 10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91" name="Groupe 90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96" name="Ellipse 95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7" name="Ellipse 96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8" name="Ellipse 97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92" name="Groupe 91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93" name="Ellipse 9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4" name="Ellipse 9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5" name="Ellipse 9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84" name="Groupe 83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85" name="Ellipse 84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6" name="Ellipse 85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7" name="Ellipse 86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8" name="Ellipse 87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9" name="Ellipse 88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1546875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295280" y="982080"/>
            <a:ext cx="9600840" cy="1303560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000" dirty="0" smtClean="0">
                <a:latin typeface="Garamond"/>
              </a:rPr>
              <a:t>MÉTHODE DE DÉTECTION DU RYTHME CARDIAQUE</a:t>
            </a:r>
            <a:endParaRPr dirty="0"/>
          </a:p>
        </p:txBody>
      </p:sp>
      <p:pic>
        <p:nvPicPr>
          <p:cNvPr id="125" name="Image 124"/>
          <p:cNvPicPr/>
          <p:nvPr/>
        </p:nvPicPr>
        <p:blipFill>
          <a:blip r:embed="rId2"/>
          <a:stretch>
            <a:fillRect/>
          </a:stretch>
        </p:blipFill>
        <p:spPr>
          <a:xfrm>
            <a:off x="804700" y="2520000"/>
            <a:ext cx="4680000" cy="3168000"/>
          </a:xfrm>
          <a:prstGeom prst="rect">
            <a:avLst/>
          </a:prstGeom>
          <a:ln>
            <a:noFill/>
          </a:ln>
        </p:spPr>
      </p:pic>
      <p:sp>
        <p:nvSpPr>
          <p:cNvPr id="126" name="TextShape 2"/>
          <p:cNvSpPr txBox="1"/>
          <p:nvPr/>
        </p:nvSpPr>
        <p:spPr>
          <a:xfrm>
            <a:off x="8677440" y="5969160"/>
            <a:ext cx="1599840" cy="27900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r>
              <a:rPr lang="fr-FR" sz="1000">
                <a:solidFill>
                  <a:srgbClr val="000000"/>
                </a:solidFill>
                <a:latin typeface="Garamond"/>
              </a:rPr>
              <a:t>22/05/2016</a:t>
            </a:r>
            <a:endParaRPr/>
          </a:p>
        </p:txBody>
      </p:sp>
      <p:sp>
        <p:nvSpPr>
          <p:cNvPr id="127" name="TextShape 3"/>
          <p:cNvSpPr txBox="1"/>
          <p:nvPr/>
        </p:nvSpPr>
        <p:spPr>
          <a:xfrm>
            <a:off x="1295280" y="5969160"/>
            <a:ext cx="7305480" cy="279000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128" name="TextShape 4"/>
          <p:cNvSpPr txBox="1"/>
          <p:nvPr/>
        </p:nvSpPr>
        <p:spPr>
          <a:xfrm>
            <a:off x="10353960" y="5969160"/>
            <a:ext cx="542160" cy="27900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A60A37B3-B95D-4A65-B539-B79ADAADE818}" type="slidenum">
              <a:rPr lang="fr-FR" sz="1000">
                <a:solidFill>
                  <a:srgbClr val="000000"/>
                </a:solidFill>
                <a:latin typeface="Garamond"/>
              </a:rPr>
              <a:t>6</a:t>
            </a:fld>
            <a:endParaRPr/>
          </a:p>
        </p:txBody>
      </p:sp>
      <p:pic>
        <p:nvPicPr>
          <p:cNvPr id="129" name="Image 128"/>
          <p:cNvPicPr/>
          <p:nvPr/>
        </p:nvPicPr>
        <p:blipFill>
          <a:blip r:embed="rId3"/>
          <a:stretch>
            <a:fillRect/>
          </a:stretch>
        </p:blipFill>
        <p:spPr>
          <a:xfrm>
            <a:off x="5635800" y="2464920"/>
            <a:ext cx="4876200" cy="1783080"/>
          </a:xfrm>
          <a:prstGeom prst="rect">
            <a:avLst/>
          </a:prstGeom>
          <a:ln>
            <a:noFill/>
          </a:ln>
        </p:spPr>
      </p:pic>
      <p:pic>
        <p:nvPicPr>
          <p:cNvPr id="130" name="Image 129"/>
          <p:cNvPicPr/>
          <p:nvPr/>
        </p:nvPicPr>
        <p:blipFill>
          <a:blip r:embed="rId4"/>
          <a:stretch>
            <a:fillRect/>
          </a:stretch>
        </p:blipFill>
        <p:spPr>
          <a:xfrm>
            <a:off x="5635800" y="4248000"/>
            <a:ext cx="4876200" cy="1512000"/>
          </a:xfrm>
          <a:prstGeom prst="rect">
            <a:avLst/>
          </a:prstGeom>
          <a:ln>
            <a:noFill/>
          </a:ln>
        </p:spPr>
      </p:pic>
      <p:grpSp>
        <p:nvGrpSpPr>
          <p:cNvPr id="83" name="Groupe 82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84" name="Groupe 83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109" name="Groupe 108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118" name="Groupe 117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23" name="Ellipse 122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31" name="Ellipse 130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32" name="Ellipse 131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119" name="Groupe 118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20" name="Ellipse 119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21" name="Ellipse 120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22" name="Ellipse 121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110" name="Groupe 109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115" name="Ellipse 114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6" name="Ellipse 115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7" name="Ellipse 116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11" name="Groupe 110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112" name="Ellipse 111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3" name="Ellipse 112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14" name="Ellipse 113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85" name="Groupe 84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92" name="Groupe 91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101" name="Groupe 100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06" name="Ellipse 105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7" name="Ellipse 106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8" name="Ellipse 107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102" name="Groupe 101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103" name="Ellipse 102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4" name="Ellipse 103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105" name="Ellipse 104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93" name="Groupe 92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98" name="Ellipse 97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9" name="Ellipse 98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00" name="Ellipse 99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94" name="Groupe 93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95" name="Ellipse 94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6" name="Ellipse 95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7" name="Ellipse 96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86" name="Groupe 85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87" name="Ellipse 86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8" name="Ellipse 87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9" name="Ellipse 88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0" name="Ellipse 89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1" name="Ellipse 90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9696771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1447802" y="1134532"/>
            <a:ext cx="9601196" cy="1303867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fr-FR" dirty="0"/>
              <a:t>PRÉSENTATION DE LA MÉTHODE PHOTO PLÉTHYSMOGRAPHIE</a:t>
            </a: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20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8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6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  <a:defRPr sz="1400" kern="1200" cap="none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Arial"/>
              <a:buAutoNum type="alphaLcPeriod"/>
            </a:pPr>
            <a:r>
              <a:rPr lang="fr-FR" dirty="0" smtClean="0"/>
              <a:t>ACQUISITION DE VIDÉO</a:t>
            </a:r>
          </a:p>
          <a:p>
            <a:pPr marL="457200" indent="-457200">
              <a:buFont typeface="Arial"/>
              <a:buAutoNum type="alphaLcPeriod"/>
            </a:pPr>
            <a:r>
              <a:rPr lang="fr-FR" dirty="0" smtClean="0"/>
              <a:t>FACE TRACKING</a:t>
            </a:r>
          </a:p>
          <a:p>
            <a:pPr marL="457200" indent="-457200">
              <a:buFont typeface="Arial"/>
              <a:buAutoNum type="alphaLcPeriod"/>
            </a:pPr>
            <a:r>
              <a:rPr lang="fr-FR" dirty="0" smtClean="0"/>
              <a:t>ROI-EXTRACTION</a:t>
            </a:r>
          </a:p>
          <a:p>
            <a:pPr marL="457200" indent="-457200">
              <a:buFont typeface="Arial"/>
              <a:buAutoNum type="alphaLcPeriod"/>
            </a:pPr>
            <a:r>
              <a:rPr lang="fr-FR" dirty="0" smtClean="0"/>
              <a:t>FILTRAGE TEMPORELLE</a:t>
            </a:r>
          </a:p>
          <a:p>
            <a:pPr marL="457200" indent="-457200">
              <a:buFont typeface="Arial"/>
              <a:buAutoNum type="alphaLcPeriod"/>
            </a:pPr>
            <a:r>
              <a:rPr lang="fr-FR" dirty="0" smtClean="0"/>
              <a:t>FENÊTRAGE GLISSANT</a:t>
            </a:r>
            <a:endParaRPr lang="fr-FR" dirty="0"/>
          </a:p>
        </p:txBody>
      </p:sp>
      <p:grpSp>
        <p:nvGrpSpPr>
          <p:cNvPr id="44" name="Groupe 43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45" name="Groupe 44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70" name="Groupe 69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79" name="Groupe 78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4" name="Ellipse 83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5" name="Ellipse 84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6" name="Ellipse 85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80" name="Groupe 79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1" name="Ellipse 8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2" name="Ellipse 8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3" name="Ellipse 8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71" name="Groupe 70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6" name="Ellipse 75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7" name="Ellipse 76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8" name="Ellipse 77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72" name="Groupe 71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3" name="Ellipse 7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4" name="Ellipse 7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5" name="Ellipse 7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6" name="Groupe 45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53" name="Groupe 52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62" name="Groupe 61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7" name="Ellipse 66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8" name="Ellipse 67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9" name="Ellipse 68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63" name="Groupe 62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4" name="Ellipse 63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5" name="Ellipse 64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6" name="Ellipse 65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4" name="Groupe 53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9" name="Ellipse 58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0" name="Ellipse 59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1" name="Ellipse 60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5" name="Groupe 54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6" name="Ellipse 55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7" name="Ellipse 56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8" name="Ellipse 57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7" name="Groupe 46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48" name="Ellipse 47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9" name="Ellipse 48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0" name="Ellipse 49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1" name="Ellipse 50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2" name="Ellipse 51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5722401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TextShape 1"/>
          <p:cNvSpPr txBox="1"/>
          <p:nvPr/>
        </p:nvSpPr>
        <p:spPr>
          <a:xfrm>
            <a:off x="1295280" y="982080"/>
            <a:ext cx="9600840" cy="1303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fr-FR" sz="4000" dirty="0"/>
              <a:t>PRÉSENTATION DE LA MÉTHODE PHOTO PLÉTHYSMOGRAPHIE</a:t>
            </a:r>
          </a:p>
        </p:txBody>
      </p:sp>
      <p:pic>
        <p:nvPicPr>
          <p:cNvPr id="6" name="Image 5"/>
          <p:cNvPicPr/>
          <p:nvPr/>
        </p:nvPicPr>
        <p:blipFill>
          <a:blip r:embed="rId2"/>
          <a:stretch>
            <a:fillRect/>
          </a:stretch>
        </p:blipFill>
        <p:spPr>
          <a:xfrm>
            <a:off x="2864160" y="2520000"/>
            <a:ext cx="7071840" cy="3418920"/>
          </a:xfrm>
          <a:prstGeom prst="rect">
            <a:avLst/>
          </a:prstGeom>
          <a:ln>
            <a:noFill/>
          </a:ln>
        </p:spPr>
      </p:pic>
      <p:grpSp>
        <p:nvGrpSpPr>
          <p:cNvPr id="44" name="Groupe 43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45" name="Groupe 44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70" name="Groupe 69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79" name="Groupe 78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4" name="Ellipse 83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5" name="Ellipse 84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6" name="Ellipse 85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80" name="Groupe 79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1" name="Ellipse 8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2" name="Ellipse 8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3" name="Ellipse 8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71" name="Groupe 70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6" name="Ellipse 75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7" name="Ellipse 76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8" name="Ellipse 77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72" name="Groupe 71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3" name="Ellipse 7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4" name="Ellipse 7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5" name="Ellipse 7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6" name="Groupe 45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53" name="Groupe 52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62" name="Groupe 61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7" name="Ellipse 66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8" name="Ellipse 67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9" name="Ellipse 68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63" name="Groupe 62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4" name="Ellipse 63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5" name="Ellipse 64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6" name="Ellipse 65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4" name="Groupe 53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9" name="Ellipse 58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0" name="Ellipse 59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1" name="Ellipse 60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5" name="Groupe 54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6" name="Ellipse 55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7" name="Ellipse 56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8" name="Ellipse 57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7" name="Groupe 46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48" name="Ellipse 47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9" name="Ellipse 48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0" name="Ellipse 49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1" name="Ellipse 50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2" name="Ellipse 51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3038039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Shape 1"/>
          <p:cNvSpPr txBox="1"/>
          <p:nvPr/>
        </p:nvSpPr>
        <p:spPr>
          <a:xfrm>
            <a:off x="1295280" y="982080"/>
            <a:ext cx="9600840" cy="1303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3600" dirty="0" smtClean="0">
                <a:latin typeface="Garamond"/>
              </a:rPr>
              <a:t>FACE TRACKING</a:t>
            </a:r>
            <a:endParaRPr dirty="0"/>
          </a:p>
        </p:txBody>
      </p:sp>
      <p:pic>
        <p:nvPicPr>
          <p:cNvPr id="6" name="Image 5"/>
          <p:cNvPicPr/>
          <p:nvPr/>
        </p:nvPicPr>
        <p:blipFill>
          <a:blip r:embed="rId2"/>
          <a:stretch>
            <a:fillRect/>
          </a:stretch>
        </p:blipFill>
        <p:spPr>
          <a:xfrm>
            <a:off x="3790440" y="2520000"/>
            <a:ext cx="4777560" cy="3490920"/>
          </a:xfrm>
          <a:prstGeom prst="rect">
            <a:avLst/>
          </a:prstGeom>
          <a:ln>
            <a:noFill/>
          </a:ln>
        </p:spPr>
      </p:pic>
      <p:grpSp>
        <p:nvGrpSpPr>
          <p:cNvPr id="44" name="Groupe 43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45" name="Groupe 44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70" name="Groupe 69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79" name="Groupe 78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4" name="Ellipse 83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5" name="Ellipse 84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6" name="Ellipse 85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80" name="Groupe 79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1" name="Ellipse 8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2" name="Ellipse 8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3" name="Ellipse 8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71" name="Groupe 70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6" name="Ellipse 75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7" name="Ellipse 76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8" name="Ellipse 77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72" name="Groupe 71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3" name="Ellipse 7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4" name="Ellipse 7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5" name="Ellipse 7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6" name="Groupe 45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53" name="Groupe 52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62" name="Groupe 61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7" name="Ellipse 66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8" name="Ellipse 67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9" name="Ellipse 68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63" name="Groupe 62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4" name="Ellipse 63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5" name="Ellipse 64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6" name="Ellipse 65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4" name="Groupe 53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9" name="Ellipse 58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0" name="Ellipse 59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1" name="Ellipse 60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5" name="Groupe 54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6" name="Ellipse 55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7" name="Ellipse 56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8" name="Ellipse 57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7" name="Groupe 46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48" name="Ellipse 47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9" name="Ellipse 48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0" name="Ellipse 49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1" name="Ellipse 50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2" name="Ellipse 51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41124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3600000" y="2520000"/>
            <a:ext cx="7285680" cy="3600000"/>
          </a:xfrm>
          <a:prstGeom prst="rect">
            <a:avLst/>
          </a:prstGeom>
          <a:ln>
            <a:noFill/>
          </a:ln>
        </p:spPr>
      </p:pic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TextShape 1"/>
          <p:cNvSpPr txBox="1"/>
          <p:nvPr/>
        </p:nvSpPr>
        <p:spPr>
          <a:xfrm>
            <a:off x="1295280" y="982080"/>
            <a:ext cx="9600840" cy="1303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000">
                <a:latin typeface="Garamond"/>
              </a:rPr>
              <a:t>ROI EXTRACTION</a:t>
            </a:r>
            <a:endParaRPr/>
          </a:p>
        </p:txBody>
      </p:sp>
      <p:pic>
        <p:nvPicPr>
          <p:cNvPr id="6" name="Image 5"/>
          <p:cNvPicPr/>
          <p:nvPr/>
        </p:nvPicPr>
        <p:blipFill>
          <a:blip r:embed="rId3"/>
          <a:stretch>
            <a:fillRect/>
          </a:stretch>
        </p:blipFill>
        <p:spPr>
          <a:xfrm>
            <a:off x="1152000" y="2592000"/>
            <a:ext cx="2368080" cy="3318480"/>
          </a:xfrm>
          <a:prstGeom prst="rect">
            <a:avLst/>
          </a:prstGeom>
          <a:ln>
            <a:noFill/>
          </a:ln>
        </p:spPr>
      </p:pic>
      <p:grpSp>
        <p:nvGrpSpPr>
          <p:cNvPr id="45" name="Groupe 44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46" name="Groupe 45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71" name="Groupe 70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80" name="Groupe 79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5" name="Ellipse 84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6" name="Ellipse 85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7" name="Ellipse 86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81" name="Groupe 80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2" name="Ellipse 81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3" name="Ellipse 82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4" name="Ellipse 83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72" name="Groupe 71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7" name="Ellipse 76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8" name="Ellipse 77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9" name="Ellipse 78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73" name="Groupe 72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4" name="Ellipse 73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5" name="Ellipse 74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6" name="Ellipse 75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7" name="Groupe 46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54" name="Groupe 53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63" name="Groupe 62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8" name="Ellipse 6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9" name="Ellipse 6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0" name="Ellipse 6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64" name="Groupe 63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5" name="Ellipse 64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6" name="Ellipse 65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7" name="Ellipse 66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5" name="Groupe 54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60" name="Ellipse 5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1" name="Ellipse 6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2" name="Ellipse 6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6" name="Groupe 55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7" name="Ellipse 56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8" name="Ellipse 57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9" name="Ellipse 58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8" name="Groupe 47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49" name="Ellipse 48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0" name="Ellipse 49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1" name="Ellipse 50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2" name="Ellipse 51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3" name="Ellipse 52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sp>
        <p:nvSpPr>
          <p:cNvPr id="2" name="ZoneTexte 1"/>
          <p:cNvSpPr txBox="1"/>
          <p:nvPr/>
        </p:nvSpPr>
        <p:spPr>
          <a:xfrm>
            <a:off x="3768505" y="2592000"/>
            <a:ext cx="24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1</a:t>
            </a:r>
            <a:endParaRPr lang="fr-FR" dirty="0"/>
          </a:p>
        </p:txBody>
      </p:sp>
      <p:sp>
        <p:nvSpPr>
          <p:cNvPr id="8" name="ZoneTexte 7"/>
          <p:cNvSpPr txBox="1"/>
          <p:nvPr/>
        </p:nvSpPr>
        <p:spPr>
          <a:xfrm>
            <a:off x="7352387" y="2592000"/>
            <a:ext cx="2405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2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3768505" y="4353059"/>
            <a:ext cx="244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3</a:t>
            </a:r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7412894" y="4353059"/>
            <a:ext cx="2456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4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0096367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FILTRAGE TEMPORELLE</a:t>
            </a:r>
            <a:endParaRPr lang="fr-FR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01" y="2468562"/>
            <a:ext cx="3161298" cy="3500438"/>
          </a:xfrm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11</a:t>
            </a:fld>
            <a:endParaRPr lang="en-US" dirty="0"/>
          </a:p>
        </p:txBody>
      </p:sp>
      <p:sp>
        <p:nvSpPr>
          <p:cNvPr id="8" name="Flèche droite 7"/>
          <p:cNvSpPr/>
          <p:nvPr/>
        </p:nvSpPr>
        <p:spPr>
          <a:xfrm>
            <a:off x="4093699" y="2886918"/>
            <a:ext cx="1308295" cy="26637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smtClean="0"/>
              <a:t>FILTRE PASSE BANDE</a:t>
            </a:r>
          </a:p>
          <a:p>
            <a:pPr algn="ctr"/>
            <a:r>
              <a:rPr lang="fr-FR" dirty="0" smtClean="0"/>
              <a:t>[30 270] </a:t>
            </a:r>
            <a:r>
              <a:rPr lang="fr-FR" dirty="0" err="1" smtClean="0"/>
              <a:t>bpms</a:t>
            </a:r>
            <a:endParaRPr lang="fr-FR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334" y="2559843"/>
            <a:ext cx="3657598" cy="3317875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4260" y="2559843"/>
            <a:ext cx="4366504" cy="3317876"/>
          </a:xfrm>
          <a:prstGeom prst="rect">
            <a:avLst/>
          </a:prstGeom>
        </p:spPr>
      </p:pic>
      <p:grpSp>
        <p:nvGrpSpPr>
          <p:cNvPr id="42" name="Groupe 41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43" name="Groupe 42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68" name="Groupe 67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77" name="Groupe 76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2" name="Ellipse 81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3" name="Ellipse 82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4" name="Ellipse 83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78" name="Groupe 77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79" name="Ellipse 78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0" name="Ellipse 79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1" name="Ellipse 80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69" name="Groupe 68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4" name="Ellipse 73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5" name="Ellipse 74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6" name="Ellipse 75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70" name="Groupe 69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1" name="Ellipse 70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2" name="Ellipse 71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3" name="Ellipse 72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4" name="Groupe 43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51" name="Groupe 50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60" name="Groupe 59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5" name="Ellipse 64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6" name="Ellipse 65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7" name="Ellipse 66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61" name="Groupe 60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2" name="Ellipse 61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3" name="Ellipse 62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4" name="Ellipse 63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2" name="Groupe 51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7" name="Ellipse 56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8" name="Ellipse 57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9" name="Ellipse 58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3" name="Groupe 52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4" name="Ellipse 53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5" name="Ellipse 54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6" name="Ellipse 55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5" name="Groupe 44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46" name="Ellipse 45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7" name="Ellipse 46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8" name="Ellipse 47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9" name="Ellipse 48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0" name="Ellipse 49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1543711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FENÊTRAGE GLISSANT</a:t>
            </a:r>
            <a:endParaRPr lang="fr-FR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1" y="2651125"/>
            <a:ext cx="4992857" cy="3317875"/>
          </a:xfrm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12" name="Groupe 11"/>
          <p:cNvGrpSpPr/>
          <p:nvPr/>
        </p:nvGrpSpPr>
        <p:grpSpPr>
          <a:xfrm>
            <a:off x="6288258" y="2651125"/>
            <a:ext cx="5064370" cy="3317875"/>
            <a:chOff x="6288258" y="2651125"/>
            <a:chExt cx="5064370" cy="3317875"/>
          </a:xfrm>
        </p:grpSpPr>
        <p:pic>
          <p:nvPicPr>
            <p:cNvPr id="8" name="Image 7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8258" y="2651125"/>
              <a:ext cx="5064370" cy="3317875"/>
            </a:xfrm>
            <a:prstGeom prst="rect">
              <a:avLst/>
            </a:prstGeom>
          </p:spPr>
        </p:pic>
        <p:cxnSp>
          <p:nvCxnSpPr>
            <p:cNvPr id="10" name="Connecteur droit 9"/>
            <p:cNvCxnSpPr/>
            <p:nvPr/>
          </p:nvCxnSpPr>
          <p:spPr>
            <a:xfrm flipH="1">
              <a:off x="6943725" y="2900363"/>
              <a:ext cx="785813" cy="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e 45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47" name="Groupe 46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72" name="Groupe 71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81" name="Groupe 80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6" name="Ellipse 85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7" name="Ellipse 86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8" name="Ellipse 87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82" name="Groupe 81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3" name="Ellipse 82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4" name="Ellipse 83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5" name="Ellipse 84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73" name="Groupe 72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8" name="Ellipse 77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9" name="Ellipse 78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0" name="Ellipse 79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74" name="Groupe 73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5" name="Ellipse 74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6" name="Ellipse 75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7" name="Ellipse 76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8" name="Groupe 47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55" name="Groupe 54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64" name="Groupe 63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9" name="Ellipse 68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0" name="Ellipse 69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1" name="Ellipse 70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65" name="Groupe 64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6" name="Ellipse 65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7" name="Ellipse 66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8" name="Ellipse 67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6" name="Groupe 55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61" name="Ellipse 60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2" name="Ellipse 61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3" name="Ellipse 62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7" name="Groupe 56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8" name="Ellipse 57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9" name="Ellipse 58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0" name="Ellipse 59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9" name="Groupe 48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50" name="Ellipse 49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1" name="Ellipse 50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2" name="Ellipse 51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3" name="Ellipse 52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4" name="Ellipse 53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3870145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 smtClean="0"/>
              <a:t>PROBLÈME D’ILLUMINATION</a:t>
            </a:r>
            <a:br>
              <a:rPr lang="fr-FR" dirty="0" smtClean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lphaLcPeriod"/>
            </a:pPr>
            <a:r>
              <a:rPr lang="fr-FR" dirty="0" smtClean="0"/>
              <a:t>NLMS</a:t>
            </a:r>
          </a:p>
          <a:p>
            <a:pPr marL="457200" indent="-457200">
              <a:buAutoNum type="alphaLcPeriod"/>
            </a:pPr>
            <a:r>
              <a:rPr lang="fr-FR" dirty="0" smtClean="0"/>
              <a:t>ESTIMATION DU RYTHME CARDIAQUE AVEC LES PARAMÈTRES Gi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295401" y="4223657"/>
                <a:ext cx="960119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3200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fr-FR" sz="3200" i="1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l-GR" sz="3200" i="1">
                                  <a:latin typeface="Cambria Math" panose="02040503050406030204" pitchFamily="18" charset="0"/>
                                </a:rPr>
                                <m:t>α</m:t>
                              </m:r>
                            </m:e>
                            <m:sub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fr-FR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fr-FR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3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fr-FR" sz="3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fr-F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32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1" y="4223657"/>
                <a:ext cx="9601196" cy="58477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Groupe 38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40" name="Groupe 39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65" name="Groupe 64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74" name="Groupe 73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79" name="Ellipse 78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0" name="Ellipse 79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1" name="Ellipse 80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75" name="Groupe 74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76" name="Ellipse 75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7" name="Ellipse 76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8" name="Ellipse 77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66" name="Groupe 65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1" name="Ellipse 70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2" name="Ellipse 71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3" name="Ellipse 72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67" name="Groupe 66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68" name="Ellipse 67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9" name="Ellipse 68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0" name="Ellipse 69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1" name="Groupe 40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48" name="Groupe 47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57" name="Groupe 56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2" name="Ellipse 61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3" name="Ellipse 62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4" name="Ellipse 63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58" name="Groupe 57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59" name="Ellipse 58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0" name="Ellipse 59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1" name="Ellipse 60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49" name="Groupe 48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4" name="Ellipse 53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5" name="Ellipse 54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6" name="Ellipse 55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0" name="Groupe 49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1" name="Ellipse 50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2" name="Ellipse 51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3" name="Ellipse 52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2" name="Groupe 41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43" name="Ellipse 42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4" name="Ellipse 43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5" name="Ellipse 44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6" name="Ellipse 45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7" name="Ellipse 46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sp>
        <p:nvSpPr>
          <p:cNvPr id="5" name="Accolade ouvrante 4"/>
          <p:cNvSpPr/>
          <p:nvPr/>
        </p:nvSpPr>
        <p:spPr>
          <a:xfrm rot="16200000">
            <a:off x="5855149" y="3358830"/>
            <a:ext cx="564202" cy="340266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Accolade ouvrante 81"/>
          <p:cNvSpPr/>
          <p:nvPr/>
        </p:nvSpPr>
        <p:spPr>
          <a:xfrm rot="16200000">
            <a:off x="8395400" y="4582239"/>
            <a:ext cx="564202" cy="97559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/>
          <p:cNvSpPr txBox="1"/>
          <p:nvPr/>
        </p:nvSpPr>
        <p:spPr>
          <a:xfrm>
            <a:off x="4435918" y="5288280"/>
            <a:ext cx="34026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Variation du volume sanguin causée par la pulsation cardiaque</a:t>
            </a:r>
            <a:endParaRPr lang="fr-FR" dirty="0"/>
          </a:p>
        </p:txBody>
      </p:sp>
      <p:sp>
        <p:nvSpPr>
          <p:cNvPr id="83" name="ZoneTexte 82"/>
          <p:cNvSpPr txBox="1"/>
          <p:nvPr/>
        </p:nvSpPr>
        <p:spPr>
          <a:xfrm>
            <a:off x="7701845" y="5273683"/>
            <a:ext cx="2050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Variation lumineuse liée à l’environnement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450646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5" grpId="0" animBg="1"/>
      <p:bldP spid="82" grpId="0" animBg="1"/>
      <p:bldP spid="8" grpId="0"/>
      <p:bldP spid="8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NLMS (</a:t>
            </a:r>
            <a:r>
              <a:rPr lang="fr-FR" dirty="0" err="1"/>
              <a:t>Normalized</a:t>
            </a:r>
            <a:r>
              <a:rPr lang="fr-FR" dirty="0"/>
              <a:t> Least </a:t>
            </a:r>
            <a:r>
              <a:rPr lang="fr-FR" dirty="0" err="1"/>
              <a:t>Mean</a:t>
            </a:r>
            <a:r>
              <a:rPr lang="fr-FR" dirty="0"/>
              <a:t> Square)</a:t>
            </a:r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1" y="2468562"/>
            <a:ext cx="4431733" cy="3317875"/>
          </a:xfrm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14</a:t>
            </a:fld>
            <a:endParaRPr lang="en-US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4865" y="2468561"/>
            <a:ext cx="4431733" cy="3317875"/>
          </a:xfrm>
          <a:prstGeom prst="rect">
            <a:avLst/>
          </a:prstGeom>
        </p:spPr>
      </p:pic>
      <p:grpSp>
        <p:nvGrpSpPr>
          <p:cNvPr id="40" name="Groupe 39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41" name="Groupe 40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66" name="Groupe 65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75" name="Groupe 74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0" name="Ellipse 79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1" name="Ellipse 80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2" name="Ellipse 81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76" name="Groupe 75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77" name="Ellipse 76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8" name="Ellipse 77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9" name="Ellipse 78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67" name="Groupe 66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2" name="Ellipse 71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3" name="Ellipse 72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4" name="Ellipse 73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68" name="Groupe 67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69" name="Ellipse 68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0" name="Ellipse 69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1" name="Ellipse 70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2" name="Groupe 41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49" name="Groupe 48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58" name="Groupe 57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3" name="Ellipse 62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4" name="Ellipse 63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5" name="Ellipse 64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59" name="Groupe 58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0" name="Ellipse 59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1" name="Ellipse 60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2" name="Ellipse 61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0" name="Groupe 49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5" name="Ellipse 54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6" name="Ellipse 55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7" name="Ellipse 56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1" name="Groupe 50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2" name="Ellipse 51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3" name="Ellipse 52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4" name="Ellipse 53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3" name="Groupe 42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44" name="Ellipse 43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5" name="Ellipse 44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6" name="Ellipse 45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7" name="Ellipse 46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8" name="Ellipse 47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817593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NLMS</a:t>
            </a:r>
            <a:endParaRPr lang="fr-F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ce réservé du contenu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ctr">
                  <a:buNone/>
                </a:pPr>
                <a:endParaRPr lang="fr-FR" sz="800" b="0" dirty="0" smtClean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6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fr-FR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fr-FR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36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36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fr-FR" sz="36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3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36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fr-FR" sz="36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fr-FR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36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fr-FR" sz="3600" dirty="0"/>
              </a:p>
              <a:p>
                <a:pPr marL="0" indent="0" algn="ctr">
                  <a:buNone/>
                </a:pPr>
                <a:endParaRPr lang="fr-FR" sz="3600" dirty="0"/>
              </a:p>
              <a:p>
                <a:pPr marL="0" indent="0" algn="ctr">
                  <a:buNone/>
                </a:pPr>
                <a:endParaRPr lang="fr-FR" sz="3600" dirty="0"/>
              </a:p>
            </p:txBody>
          </p:sp>
        </mc:Choice>
        <mc:Fallback xmlns="">
          <p:sp>
            <p:nvSpPr>
              <p:cNvPr id="3" name="Espace réservé du contenu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15</a:t>
            </a:fld>
            <a:endParaRPr lang="en-US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914" y="3825875"/>
            <a:ext cx="3291114" cy="867230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1912" y="3825875"/>
            <a:ext cx="4401192" cy="867230"/>
          </a:xfrm>
          <a:prstGeom prst="rect">
            <a:avLst/>
          </a:prstGeom>
        </p:spPr>
      </p:pic>
      <p:grpSp>
        <p:nvGrpSpPr>
          <p:cNvPr id="41" name="Groupe 40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42" name="Groupe 41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67" name="Groupe 66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76" name="Groupe 75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1" name="Ellipse 8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2" name="Ellipse 8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3" name="Ellipse 8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77" name="Groupe 76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78" name="Ellipse 7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9" name="Ellipse 7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0" name="Ellipse 7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68" name="Groupe 67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3" name="Ellipse 7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4" name="Ellipse 7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5" name="Ellipse 7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69" name="Groupe 68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0" name="Ellipse 6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1" name="Ellipse 7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2" name="Ellipse 7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3" name="Groupe 42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50" name="Groupe 49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59" name="Groupe 58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4" name="Ellipse 63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5" name="Ellipse 64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6" name="Ellipse 65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60" name="Groupe 59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1" name="Ellipse 6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2" name="Ellipse 6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3" name="Ellipse 6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1" name="Groupe 50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6" name="Ellipse 55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7" name="Ellipse 56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8" name="Ellipse 57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2" name="Groupe 51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3" name="Ellipse 5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4" name="Ellipse 5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5" name="Ellipse 5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4" name="Groupe 43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45" name="Ellipse 44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6" name="Ellipse 45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7" name="Ellipse 46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8" name="Ellipse 47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9" name="Ellipse 48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57324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NLMS</a:t>
            </a: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16</a:t>
            </a:fld>
            <a:endParaRPr lang="en-US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1" y="4079420"/>
            <a:ext cx="3200400" cy="628650"/>
          </a:xfrm>
          <a:prstGeom prst="rect">
            <a:avLst/>
          </a:prstGeom>
        </p:spPr>
      </p:pic>
      <p:sp>
        <p:nvSpPr>
          <p:cNvPr id="12" name="Flèche droite 11"/>
          <p:cNvSpPr/>
          <p:nvPr/>
        </p:nvSpPr>
        <p:spPr>
          <a:xfrm>
            <a:off x="4934860" y="3580947"/>
            <a:ext cx="1480457" cy="15385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430" y="2557932"/>
            <a:ext cx="4673600" cy="3280442"/>
          </a:xfrm>
          <a:prstGeom prst="rect">
            <a:avLst/>
          </a:prstGeom>
        </p:spPr>
      </p:pic>
      <p:grpSp>
        <p:nvGrpSpPr>
          <p:cNvPr id="45" name="Groupe 44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46" name="Groupe 45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71" name="Groupe 70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80" name="Groupe 79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5" name="Ellipse 84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6" name="Ellipse 85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7" name="Ellipse 86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81" name="Groupe 80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2" name="Ellipse 81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3" name="Ellipse 82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4" name="Ellipse 83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72" name="Groupe 71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7" name="Ellipse 76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8" name="Ellipse 77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9" name="Ellipse 78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73" name="Groupe 72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4" name="Ellipse 73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5" name="Ellipse 74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6" name="Ellipse 75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7" name="Groupe 46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54" name="Groupe 53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63" name="Groupe 62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8" name="Ellipse 6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9" name="Ellipse 6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0" name="Ellipse 6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64" name="Groupe 63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5" name="Ellipse 64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6" name="Ellipse 65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7" name="Ellipse 66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5" name="Groupe 54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60" name="Ellipse 5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1" name="Ellipse 6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2" name="Ellipse 6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6" name="Groupe 55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7" name="Ellipse 56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8" name="Ellipse 57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9" name="Ellipse 58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8" name="Groupe 47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49" name="Ellipse 48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0" name="Ellipse 49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1" name="Ellipse 50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2" name="Ellipse 51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3" name="Ellipse 52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9509835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17</a:t>
            </a:fld>
            <a:endParaRPr lang="en-US" dirty="0"/>
          </a:p>
        </p:txBody>
      </p:sp>
      <p:sp>
        <p:nvSpPr>
          <p:cNvPr id="6" name="TextShape 1"/>
          <p:cNvSpPr txBox="1"/>
          <p:nvPr/>
        </p:nvSpPr>
        <p:spPr>
          <a:xfrm>
            <a:off x="1295280" y="982080"/>
            <a:ext cx="9600840" cy="1303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2800" dirty="0">
                <a:latin typeface="Garamond"/>
              </a:rPr>
              <a:t>ESTIMATION DU RYTHME CARDIAQUE À TRAVERS LES PARAMÈTRES </a:t>
            </a:r>
            <a:r>
              <a:rPr lang="en-US" sz="2800" dirty="0" err="1">
                <a:latin typeface="Garamond"/>
              </a:rPr>
              <a:t>Gi</a:t>
            </a:r>
            <a:endParaRPr dirty="0"/>
          </a:p>
        </p:txBody>
      </p:sp>
      <p:pic>
        <p:nvPicPr>
          <p:cNvPr id="7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2952000" y="2664000"/>
            <a:ext cx="6552000" cy="576000"/>
          </a:xfrm>
          <a:prstGeom prst="rect">
            <a:avLst/>
          </a:prstGeom>
          <a:ln>
            <a:noFill/>
          </a:ln>
        </p:spPr>
      </p:pic>
      <p:pic>
        <p:nvPicPr>
          <p:cNvPr id="8" name="Image 7"/>
          <p:cNvPicPr/>
          <p:nvPr/>
        </p:nvPicPr>
        <p:blipFill>
          <a:blip r:embed="rId3"/>
          <a:stretch>
            <a:fillRect/>
          </a:stretch>
        </p:blipFill>
        <p:spPr>
          <a:xfrm>
            <a:off x="4394880" y="4131720"/>
            <a:ext cx="3400200" cy="1323720"/>
          </a:xfrm>
          <a:prstGeom prst="rect">
            <a:avLst/>
          </a:prstGeom>
          <a:ln>
            <a:noFill/>
          </a:ln>
        </p:spPr>
      </p:pic>
      <p:sp>
        <p:nvSpPr>
          <p:cNvPr id="9" name="Flèche vers le bas 8"/>
          <p:cNvSpPr/>
          <p:nvPr/>
        </p:nvSpPr>
        <p:spPr>
          <a:xfrm>
            <a:off x="5630012" y="3310914"/>
            <a:ext cx="929935" cy="7498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0" name="Groupe 9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11" name="Groupe 10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36" name="Groupe 35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45" name="Groupe 44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50" name="Ellipse 49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51" name="Ellipse 50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52" name="Ellipse 51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46" name="Groupe 45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47" name="Ellipse 46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8" name="Ellipse 47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9" name="Ellipse 48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37" name="Groupe 36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42" name="Ellipse 41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3" name="Ellipse 42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4" name="Ellipse 43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38" name="Groupe 37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39" name="Ellipse 38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0" name="Ellipse 39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Ellipse 40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2" name="Groupe 11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19" name="Groupe 18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28" name="Groupe 27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33" name="Ellipse 32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4" name="Ellipse 33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5" name="Ellipse 34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29" name="Groupe 28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30" name="Ellipse 29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1" name="Ellipse 30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grpFill/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2" name="Ellipse 31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20" name="Groupe 19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25" name="Ellipse 24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" name="Ellipse 25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" name="Ellipse 26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1" name="Groupe 20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22" name="Ellipse 21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" name="Ellipse 22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" name="Ellipse 23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3" name="Groupe 12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14" name="Ellipse 13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Ellipse 14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Ellipse 15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Ellipse 16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" name="Ellipse 17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0673218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/>
          <p:cNvPicPr/>
          <p:nvPr/>
        </p:nvPicPr>
        <p:blipFill>
          <a:blip r:embed="rId2"/>
          <a:stretch>
            <a:fillRect/>
          </a:stretch>
        </p:blipFill>
        <p:spPr>
          <a:xfrm>
            <a:off x="864000" y="2448000"/>
            <a:ext cx="4461120" cy="3802320"/>
          </a:xfrm>
          <a:prstGeom prst="rect">
            <a:avLst/>
          </a:prstGeom>
          <a:ln>
            <a:noFill/>
          </a:ln>
        </p:spPr>
      </p:pic>
      <p:pic>
        <p:nvPicPr>
          <p:cNvPr id="8" name="Image 7"/>
          <p:cNvPicPr/>
          <p:nvPr/>
        </p:nvPicPr>
        <p:blipFill>
          <a:blip r:embed="rId3"/>
          <a:stretch>
            <a:fillRect/>
          </a:stretch>
        </p:blipFill>
        <p:spPr>
          <a:xfrm>
            <a:off x="7056000" y="2536200"/>
            <a:ext cx="4320000" cy="3583800"/>
          </a:xfrm>
          <a:prstGeom prst="rect">
            <a:avLst/>
          </a:prstGeom>
          <a:ln>
            <a:noFill/>
          </a:ln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18</a:t>
            </a:fld>
            <a:endParaRPr lang="en-US" dirty="0"/>
          </a:p>
        </p:txBody>
      </p:sp>
      <p:sp>
        <p:nvSpPr>
          <p:cNvPr id="6" name="TextShape 1"/>
          <p:cNvSpPr txBox="1"/>
          <p:nvPr/>
        </p:nvSpPr>
        <p:spPr>
          <a:xfrm>
            <a:off x="1295280" y="982080"/>
            <a:ext cx="9600840" cy="130356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en-US" sz="3200" dirty="0">
                <a:latin typeface="Garamond"/>
              </a:rPr>
              <a:t>			</a:t>
            </a:r>
            <a:r>
              <a:rPr lang="en-US" sz="3200" dirty="0" err="1">
                <a:latin typeface="Garamond"/>
              </a:rPr>
              <a:t>Calcul</a:t>
            </a:r>
            <a:r>
              <a:rPr lang="en-US" sz="3200" dirty="0">
                <a:latin typeface="Garamond"/>
              </a:rPr>
              <a:t> du G :</a:t>
            </a:r>
            <a:endParaRPr dirty="0"/>
          </a:p>
        </p:txBody>
      </p:sp>
      <p:pic>
        <p:nvPicPr>
          <p:cNvPr id="7" name="Image 6"/>
          <p:cNvPicPr/>
          <p:nvPr/>
        </p:nvPicPr>
        <p:blipFill>
          <a:blip r:embed="rId4"/>
          <a:stretch>
            <a:fillRect/>
          </a:stretch>
        </p:blipFill>
        <p:spPr>
          <a:xfrm>
            <a:off x="6131880" y="1182600"/>
            <a:ext cx="3240000" cy="720000"/>
          </a:xfrm>
          <a:prstGeom prst="rect">
            <a:avLst/>
          </a:prstGeom>
          <a:ln>
            <a:noFill/>
          </a:ln>
        </p:spPr>
      </p:pic>
      <p:sp>
        <p:nvSpPr>
          <p:cNvPr id="10" name="TextShape 2"/>
          <p:cNvSpPr txBox="1"/>
          <p:nvPr/>
        </p:nvSpPr>
        <p:spPr>
          <a:xfrm>
            <a:off x="5325120" y="2736000"/>
            <a:ext cx="1874880" cy="3417840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fr-FR">
                <a:latin typeface="Arial"/>
              </a:rPr>
              <a:t>&lt;==Gfront=6,18</a:t>
            </a:r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endParaRPr/>
          </a:p>
          <a:p>
            <a:r>
              <a:rPr lang="fr-FR">
                <a:latin typeface="Arial"/>
              </a:rPr>
              <a:t>Gyeux=0,45==&gt;</a:t>
            </a:r>
            <a:endParaRPr/>
          </a:p>
          <a:p>
            <a:endParaRPr/>
          </a:p>
        </p:txBody>
      </p:sp>
      <p:grpSp>
        <p:nvGrpSpPr>
          <p:cNvPr id="11" name="Groupe 10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12" name="Groupe 11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37" name="Groupe 36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46" name="Groupe 45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51" name="Ellipse 5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52" name="Ellipse 5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53" name="Ellipse 5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47" name="Groupe 46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48" name="Ellipse 4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9" name="Ellipse 4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50" name="Ellipse 4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38" name="Groupe 37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43" name="Ellipse 4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4" name="Ellipse 4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5" name="Ellipse 4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39" name="Groupe 38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40" name="Ellipse 3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Ellipse 4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2" name="Ellipse 4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3" name="Groupe 12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20" name="Groupe 19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29" name="Groupe 28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34" name="Ellipse 33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5" name="Ellipse 34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6" name="Ellipse 35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30" name="Groupe 29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31" name="Ellipse 3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2" name="Ellipse 3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3" name="Ellipse 3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21" name="Groupe 20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26" name="Ellipse 25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" name="Ellipse 26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8" name="Ellipse 27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2" name="Groupe 21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23" name="Ellipse 2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" name="Ellipse 2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" name="Ellipse 2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4" name="Groupe 13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15" name="Ellipse 14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Ellipse 15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Ellipse 16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" name="Ellipse 17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9" name="Ellipse 18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91717740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19</a:t>
            </a:fld>
            <a:endParaRPr lang="en-US" dirty="0"/>
          </a:p>
        </p:txBody>
      </p:sp>
      <p:sp>
        <p:nvSpPr>
          <p:cNvPr id="6" name="TextShape 1"/>
          <p:cNvSpPr txBox="1"/>
          <p:nvPr/>
        </p:nvSpPr>
        <p:spPr>
          <a:xfrm>
            <a:off x="1295280" y="982080"/>
            <a:ext cx="9600840" cy="1303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3200">
                <a:latin typeface="Garamond"/>
              </a:rPr>
              <a:t>EXTRACTION DU RYTHME CARDIAQUE</a:t>
            </a:r>
            <a:endParaRPr/>
          </a:p>
        </p:txBody>
      </p:sp>
      <p:pic>
        <p:nvPicPr>
          <p:cNvPr id="7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4836960" y="2523960"/>
            <a:ext cx="2305080" cy="630000"/>
          </a:xfrm>
          <a:prstGeom prst="rect">
            <a:avLst/>
          </a:prstGeom>
          <a:ln>
            <a:noFill/>
          </a:ln>
        </p:spPr>
      </p:pic>
      <p:sp>
        <p:nvSpPr>
          <p:cNvPr id="8" name="TextShape 2"/>
          <p:cNvSpPr txBox="1"/>
          <p:nvPr/>
        </p:nvSpPr>
        <p:spPr>
          <a:xfrm>
            <a:off x="7560000" y="2664000"/>
            <a:ext cx="2088000" cy="346320"/>
          </a:xfrm>
          <a:prstGeom prst="rect">
            <a:avLst/>
          </a:prstGeom>
        </p:spPr>
        <p:txBody>
          <a:bodyPr lIns="90000" tIns="45000" rIns="90000" bIns="45000"/>
          <a:lstStyle/>
          <a:p>
            <a:r>
              <a:rPr lang="fr-FR">
                <a:latin typeface="Arial"/>
              </a:rPr>
              <a:t>Signal total</a:t>
            </a:r>
            <a:endParaRPr/>
          </a:p>
        </p:txBody>
      </p:sp>
      <p:pic>
        <p:nvPicPr>
          <p:cNvPr id="9" name="Image 8"/>
          <p:cNvPicPr/>
          <p:nvPr/>
        </p:nvPicPr>
        <p:blipFill>
          <a:blip r:embed="rId3"/>
          <a:stretch>
            <a:fillRect/>
          </a:stretch>
        </p:blipFill>
        <p:spPr>
          <a:xfrm>
            <a:off x="1211400" y="3000600"/>
            <a:ext cx="10020600" cy="3119400"/>
          </a:xfrm>
          <a:prstGeom prst="rect">
            <a:avLst/>
          </a:prstGeom>
          <a:ln>
            <a:noFill/>
          </a:ln>
        </p:spPr>
      </p:pic>
      <p:grpSp>
        <p:nvGrpSpPr>
          <p:cNvPr id="10" name="Groupe 9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11" name="Groupe 10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36" name="Groupe 35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45" name="Groupe 44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50" name="Ellipse 49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51" name="Ellipse 50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52" name="Ellipse 51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46" name="Groupe 45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47" name="Ellipse 46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8" name="Ellipse 47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9" name="Ellipse 48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37" name="Groupe 36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42" name="Ellipse 41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3" name="Ellipse 42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4" name="Ellipse 43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38" name="Groupe 37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39" name="Ellipse 38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0" name="Ellipse 39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Ellipse 40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2" name="Groupe 11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19" name="Groupe 18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28" name="Groupe 27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33" name="Ellipse 32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4" name="Ellipse 33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5" name="Ellipse 34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29" name="Groupe 28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30" name="Ellipse 29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1" name="Ellipse 30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2" name="Ellipse 31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20" name="Groupe 19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25" name="Ellipse 24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6" name="Ellipse 25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7" name="Ellipse 26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21" name="Groupe 20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22" name="Ellipse 21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" name="Ellipse 22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" name="Ellipse 23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3" name="Groupe 12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14" name="Ellipse 13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Ellipse 14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Ellipse 15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" name="Ellipse 16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" name="Ellipse 17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5763396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PROTOCOLE EXPÉRIMENTAL</a:t>
            </a:r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7450" y="2768600"/>
            <a:ext cx="7277100" cy="2895600"/>
          </a:xfrm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20</a:t>
            </a:fld>
            <a:endParaRPr lang="en-US" dirty="0"/>
          </a:p>
        </p:txBody>
      </p:sp>
      <p:grpSp>
        <p:nvGrpSpPr>
          <p:cNvPr id="39" name="Groupe 38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40" name="Groupe 39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65" name="Groupe 64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74" name="Groupe 73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79" name="Ellipse 78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0" name="Ellipse 79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1" name="Ellipse 80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75" name="Groupe 74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76" name="Ellipse 75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7" name="Ellipse 76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8" name="Ellipse 77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66" name="Groupe 65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1" name="Ellipse 70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2" name="Ellipse 71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3" name="Ellipse 72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67" name="Groupe 66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68" name="Ellipse 67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9" name="Ellipse 68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0" name="Ellipse 69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1" name="Groupe 40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48" name="Groupe 47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57" name="Groupe 56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2" name="Ellipse 61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3" name="Ellipse 62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4" name="Ellipse 63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58" name="Groupe 57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59" name="Ellipse 58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0" name="Ellipse 59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1" name="Ellipse 60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49" name="Groupe 48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4" name="Ellipse 53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5" name="Ellipse 54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6" name="Ellipse 55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0" name="Groupe 49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1" name="Ellipse 50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2" name="Ellipse 51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3" name="Ellipse 52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2" name="Groupe 41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43" name="Ellipse 42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4" name="Ellipse 43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5" name="Ellipse 44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6" name="Ellipse 45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7" name="Ellipse 46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4214265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PROTOCOLE EXPÉRIMENTAL</a:t>
            </a:r>
            <a:endParaRPr lang="fr-FR" dirty="0"/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2" y="2557463"/>
            <a:ext cx="9601196" cy="3317875"/>
          </a:xfrm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21</a:t>
            </a:fld>
            <a:endParaRPr lang="en-US" dirty="0"/>
          </a:p>
        </p:txBody>
      </p:sp>
      <p:sp>
        <p:nvSpPr>
          <p:cNvPr id="8" name="ZoneTexte 7"/>
          <p:cNvSpPr txBox="1"/>
          <p:nvPr/>
        </p:nvSpPr>
        <p:spPr>
          <a:xfrm>
            <a:off x="1524000" y="2757714"/>
            <a:ext cx="121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Rythme cardiaque début : 90 </a:t>
            </a:r>
            <a:r>
              <a:rPr lang="fr-FR" dirty="0" err="1" smtClean="0"/>
              <a:t>bpms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1524000" y="4316526"/>
            <a:ext cx="121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Rythme cardiaque fin : 75 </a:t>
            </a:r>
            <a:r>
              <a:rPr lang="fr-FR" dirty="0" err="1" smtClean="0"/>
              <a:t>bpms</a:t>
            </a:r>
            <a:endParaRPr lang="fr-FR" dirty="0"/>
          </a:p>
        </p:txBody>
      </p:sp>
      <p:grpSp>
        <p:nvGrpSpPr>
          <p:cNvPr id="41" name="Groupe 40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42" name="Groupe 41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67" name="Groupe 66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76" name="Groupe 75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1" name="Ellipse 8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2" name="Ellipse 8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3" name="Ellipse 8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77" name="Groupe 76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78" name="Ellipse 7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9" name="Ellipse 7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0" name="Ellipse 7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68" name="Groupe 67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3" name="Ellipse 7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4" name="Ellipse 7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5" name="Ellipse 7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69" name="Groupe 68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0" name="Ellipse 6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1" name="Ellipse 7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2" name="Ellipse 7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3" name="Groupe 42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50" name="Groupe 49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59" name="Groupe 58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4" name="Ellipse 63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5" name="Ellipse 64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6" name="Ellipse 65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60" name="Groupe 59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1" name="Ellipse 6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2" name="Ellipse 6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3" name="Ellipse 6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1" name="Groupe 50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6" name="Ellipse 55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7" name="Ellipse 56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8" name="Ellipse 57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2" name="Groupe 51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3" name="Ellipse 5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4" name="Ellipse 5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5" name="Ellipse 5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4" name="Groupe 43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45" name="Ellipse 44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6" name="Ellipse 45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7" name="Ellipse 46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8" name="Ellipse 47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9" name="Ellipse 48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0072713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PROTOCOLE EXPÉRIMENTAL</a:t>
            </a:r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2" y="2557463"/>
            <a:ext cx="9601196" cy="3317875"/>
          </a:xfrm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22</a:t>
            </a:fld>
            <a:endParaRPr lang="en-US" dirty="0"/>
          </a:p>
        </p:txBody>
      </p:sp>
      <p:sp>
        <p:nvSpPr>
          <p:cNvPr id="8" name="ZoneTexte 7"/>
          <p:cNvSpPr txBox="1"/>
          <p:nvPr/>
        </p:nvSpPr>
        <p:spPr>
          <a:xfrm>
            <a:off x="1524000" y="4316526"/>
            <a:ext cx="121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Rythme cardiaque fin : 90 </a:t>
            </a:r>
            <a:r>
              <a:rPr lang="fr-FR" dirty="0" err="1" smtClean="0"/>
              <a:t>bpms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1524000" y="2757714"/>
            <a:ext cx="121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Rythme cardiaque début : 91 </a:t>
            </a:r>
            <a:r>
              <a:rPr lang="fr-FR" dirty="0" err="1" smtClean="0"/>
              <a:t>bpms</a:t>
            </a:r>
            <a:endParaRPr lang="fr-FR" dirty="0"/>
          </a:p>
        </p:txBody>
      </p:sp>
      <p:grpSp>
        <p:nvGrpSpPr>
          <p:cNvPr id="41" name="Groupe 40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42" name="Groupe 41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67" name="Groupe 66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76" name="Groupe 75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1" name="Ellipse 8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2" name="Ellipse 8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3" name="Ellipse 8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77" name="Groupe 76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78" name="Ellipse 7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9" name="Ellipse 7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0" name="Ellipse 7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68" name="Groupe 67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3" name="Ellipse 7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4" name="Ellipse 7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5" name="Ellipse 7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69" name="Groupe 68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0" name="Ellipse 6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1" name="Ellipse 7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2" name="Ellipse 7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3" name="Groupe 42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50" name="Groupe 49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59" name="Groupe 58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4" name="Ellipse 63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5" name="Ellipse 64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6" name="Ellipse 65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60" name="Groupe 59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1" name="Ellipse 6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2" name="Ellipse 6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3" name="Ellipse 6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1" name="Groupe 50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6" name="Ellipse 55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7" name="Ellipse 56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8" name="Ellipse 57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2" name="Groupe 51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3" name="Ellipse 5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4" name="Ellipse 5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5" name="Ellipse 5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4" name="Groupe 43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45" name="Ellipse 44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6" name="Ellipse 45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7" name="Ellipse 46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8" name="Ellipse 47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9" name="Ellipse 48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270327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PROTOCOLE EXPÉRIMENTAL</a:t>
            </a:r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2" y="2557463"/>
            <a:ext cx="9601196" cy="3317875"/>
          </a:xfrm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23</a:t>
            </a:fld>
            <a:endParaRPr lang="en-US" dirty="0"/>
          </a:p>
        </p:txBody>
      </p:sp>
      <p:sp>
        <p:nvSpPr>
          <p:cNvPr id="8" name="ZoneTexte 7"/>
          <p:cNvSpPr txBox="1"/>
          <p:nvPr/>
        </p:nvSpPr>
        <p:spPr>
          <a:xfrm>
            <a:off x="1524000" y="2757714"/>
            <a:ext cx="121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Rythme cardiaque début : 80 </a:t>
            </a:r>
            <a:r>
              <a:rPr lang="fr-FR" dirty="0" err="1" smtClean="0"/>
              <a:t>bpms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1524000" y="4316526"/>
            <a:ext cx="1219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Rythme cardiaque fin : 85 </a:t>
            </a:r>
            <a:r>
              <a:rPr lang="fr-FR" dirty="0" err="1" smtClean="0"/>
              <a:t>bpms</a:t>
            </a:r>
            <a:endParaRPr lang="fr-FR" dirty="0"/>
          </a:p>
        </p:txBody>
      </p:sp>
      <p:grpSp>
        <p:nvGrpSpPr>
          <p:cNvPr id="41" name="Groupe 40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42" name="Groupe 41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67" name="Groupe 66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76" name="Groupe 75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81" name="Ellipse 8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2" name="Ellipse 8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3" name="Ellipse 8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77" name="Groupe 76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78" name="Ellipse 7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9" name="Ellipse 7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0" name="Ellipse 7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68" name="Groupe 67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3" name="Ellipse 7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4" name="Ellipse 7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5" name="Ellipse 7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69" name="Groupe 68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0" name="Ellipse 6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1" name="Ellipse 7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2" name="Ellipse 7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3" name="Groupe 42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50" name="Groupe 49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59" name="Groupe 58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4" name="Ellipse 63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5" name="Ellipse 64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6" name="Ellipse 65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60" name="Groupe 59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1" name="Ellipse 6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2" name="Ellipse 6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3" name="Ellipse 6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51" name="Groupe 50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6" name="Ellipse 55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7" name="Ellipse 56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8" name="Ellipse 57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2" name="Groupe 51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3" name="Ellipse 5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4" name="Ellipse 5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grpFill/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5" name="Ellipse 5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4" name="Groupe 43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45" name="Ellipse 44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6" name="Ellipse 45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7" name="Ellipse 46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8" name="Ellipse 47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9" name="Ellipse 48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7777495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PROTOCOLE EXPÉRIMENTAL</a:t>
            </a:r>
          </a:p>
        </p:txBody>
      </p:sp>
      <p:pic>
        <p:nvPicPr>
          <p:cNvPr id="7" name="Espace réservé du contenu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3095786"/>
            <a:ext cx="9601200" cy="2241229"/>
          </a:xfrm>
        </p:spPr>
      </p:pic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24</a:t>
            </a:fld>
            <a:endParaRPr lang="en-US" dirty="0"/>
          </a:p>
        </p:txBody>
      </p:sp>
      <p:grpSp>
        <p:nvGrpSpPr>
          <p:cNvPr id="39" name="Groupe 38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40" name="Groupe 39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65" name="Groupe 64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74" name="Groupe 73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79" name="Ellipse 78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0" name="Ellipse 79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81" name="Ellipse 80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75" name="Groupe 74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76" name="Ellipse 75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7" name="Ellipse 76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78" name="Ellipse 77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66" name="Groupe 65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71" name="Ellipse 70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2" name="Ellipse 71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3" name="Ellipse 72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67" name="Groupe 66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68" name="Ellipse 67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69" name="Ellipse 68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0" name="Ellipse 69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1" name="Groupe 40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48" name="Groupe 47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57" name="Groupe 56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62" name="Ellipse 61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3" name="Ellipse 62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4" name="Ellipse 63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58" name="Groupe 57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59" name="Ellipse 58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0" name="Ellipse 59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61" name="Ellipse 60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49" name="Groupe 48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4" name="Ellipse 53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5" name="Ellipse 54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6" name="Ellipse 55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50" name="Groupe 49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51" name="Ellipse 50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2" name="Ellipse 51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53" name="Ellipse 52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42" name="Groupe 41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43" name="Ellipse 42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4" name="Ellipse 43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5" name="Ellipse 44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6" name="Ellipse 45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7" name="Ellipse 46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229238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25</a:t>
            </a:fld>
            <a:endParaRPr lang="en-US" dirty="0"/>
          </a:p>
        </p:txBody>
      </p:sp>
      <p:sp>
        <p:nvSpPr>
          <p:cNvPr id="6" name="TextShape 1"/>
          <p:cNvSpPr txBox="1"/>
          <p:nvPr/>
        </p:nvSpPr>
        <p:spPr>
          <a:xfrm>
            <a:off x="1295280" y="982080"/>
            <a:ext cx="9600840" cy="1303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3200" dirty="0" smtClean="0">
                <a:latin typeface="Garamond"/>
              </a:rPr>
              <a:t>SIMULATION EN TEMPS RÉEL</a:t>
            </a:r>
            <a:endParaRPr dirty="0"/>
          </a:p>
        </p:txBody>
      </p:sp>
      <p:pic>
        <p:nvPicPr>
          <p:cNvPr id="7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2808000" y="2485080"/>
            <a:ext cx="6866640" cy="3562920"/>
          </a:xfrm>
          <a:prstGeom prst="rect">
            <a:avLst/>
          </a:prstGeom>
          <a:ln>
            <a:noFill/>
          </a:ln>
        </p:spPr>
      </p:pic>
      <p:grpSp>
        <p:nvGrpSpPr>
          <p:cNvPr id="8" name="Groupe 7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9" name="Groupe 8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34" name="Groupe 33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43" name="Groupe 42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48" name="Ellipse 4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9" name="Ellipse 4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50" name="Ellipse 4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44" name="Groupe 43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45" name="Ellipse 44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6" name="Ellipse 45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7" name="Ellipse 46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35" name="Groupe 34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40" name="Ellipse 3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Ellipse 4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2" name="Ellipse 4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36" name="Groupe 35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37" name="Ellipse 36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8" name="Ellipse 37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9" name="Ellipse 38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0" name="Groupe 9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17" name="Groupe 16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26" name="Groupe 25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31" name="Ellipse 3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2" name="Ellipse 3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3" name="Ellipse 3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27" name="Groupe 26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28" name="Ellipse 2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9" name="Ellipse 2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0" name="Ellipse 2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18" name="Groupe 17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23" name="Ellipse 2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" name="Ellipse 2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" name="Ellipse 2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9" name="Groupe 18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20" name="Ellipse 1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" name="Ellipse 2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" name="Ellipse 2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1" name="Groupe 10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12" name="Ellipse 11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" name="Ellipse 12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Ellipse 13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Ellipse 14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Ellipse 15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8284194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26</a:t>
            </a:fld>
            <a:endParaRPr lang="en-US" dirty="0"/>
          </a:p>
        </p:txBody>
      </p:sp>
      <p:sp>
        <p:nvSpPr>
          <p:cNvPr id="6" name="TextShape 1"/>
          <p:cNvSpPr txBox="1"/>
          <p:nvPr/>
        </p:nvSpPr>
        <p:spPr>
          <a:xfrm>
            <a:off x="1295280" y="982080"/>
            <a:ext cx="9600840" cy="1303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2600">
                <a:latin typeface="Garamond"/>
              </a:rPr>
              <a:t>LIVE DETECTION OF POSITION OF ROIs</a:t>
            </a:r>
            <a:endParaRPr/>
          </a:p>
        </p:txBody>
      </p:sp>
      <p:pic>
        <p:nvPicPr>
          <p:cNvPr id="7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3584160" y="2489400"/>
            <a:ext cx="5133960" cy="3630600"/>
          </a:xfrm>
          <a:prstGeom prst="rect">
            <a:avLst/>
          </a:prstGeom>
          <a:ln>
            <a:noFill/>
          </a:ln>
        </p:spPr>
      </p:pic>
      <p:grpSp>
        <p:nvGrpSpPr>
          <p:cNvPr id="8" name="Groupe 7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9" name="Groupe 8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34" name="Groupe 33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43" name="Groupe 42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48" name="Ellipse 4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9" name="Ellipse 4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50" name="Ellipse 4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44" name="Groupe 43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45" name="Ellipse 44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6" name="Ellipse 45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7" name="Ellipse 46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35" name="Groupe 34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40" name="Ellipse 3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Ellipse 4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2" name="Ellipse 4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36" name="Groupe 35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37" name="Ellipse 36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8" name="Ellipse 37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9" name="Ellipse 38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0" name="Groupe 9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17" name="Groupe 16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26" name="Groupe 25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31" name="Ellipse 3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2" name="Ellipse 3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3" name="Ellipse 3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27" name="Groupe 26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28" name="Ellipse 2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9" name="Ellipse 2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0" name="Ellipse 2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18" name="Groupe 17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23" name="Ellipse 2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" name="Ellipse 2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" name="Ellipse 2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9" name="Groupe 18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20" name="Ellipse 1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" name="Ellipse 2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" name="Ellipse 2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1" name="Groupe 10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12" name="Ellipse 11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" name="Ellipse 12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Ellipse 13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Ellipse 14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Ellipse 15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7346747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27</a:t>
            </a:fld>
            <a:endParaRPr lang="en-US" dirty="0"/>
          </a:p>
        </p:txBody>
      </p:sp>
      <p:sp>
        <p:nvSpPr>
          <p:cNvPr id="6" name="TextShape 1"/>
          <p:cNvSpPr txBox="1"/>
          <p:nvPr/>
        </p:nvSpPr>
        <p:spPr>
          <a:xfrm>
            <a:off x="1295280" y="982080"/>
            <a:ext cx="9600840" cy="13035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3200" dirty="0">
                <a:latin typeface="Garamond"/>
              </a:rPr>
              <a:t>EXTRACTION OF THE LIVE </a:t>
            </a:r>
            <a:r>
              <a:rPr lang="en-US" sz="3200" dirty="0" smtClean="0">
                <a:latin typeface="Garamond"/>
              </a:rPr>
              <a:t>HEART </a:t>
            </a:r>
            <a:r>
              <a:rPr lang="en-US" sz="3200" dirty="0">
                <a:latin typeface="Garamond"/>
              </a:rPr>
              <a:t>RATE</a:t>
            </a:r>
            <a:endParaRPr dirty="0"/>
          </a:p>
        </p:txBody>
      </p:sp>
      <p:pic>
        <p:nvPicPr>
          <p:cNvPr id="7" name="Image 6"/>
          <p:cNvPicPr/>
          <p:nvPr/>
        </p:nvPicPr>
        <p:blipFill>
          <a:blip r:embed="rId2"/>
          <a:stretch>
            <a:fillRect/>
          </a:stretch>
        </p:blipFill>
        <p:spPr>
          <a:xfrm>
            <a:off x="2304000" y="2513520"/>
            <a:ext cx="8208000" cy="3534480"/>
          </a:xfrm>
          <a:prstGeom prst="rect">
            <a:avLst/>
          </a:prstGeom>
          <a:ln>
            <a:noFill/>
          </a:ln>
        </p:spPr>
      </p:pic>
      <p:grpSp>
        <p:nvGrpSpPr>
          <p:cNvPr id="8" name="Groupe 7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9" name="Groupe 8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34" name="Groupe 33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43" name="Groupe 42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48" name="Ellipse 4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9" name="Ellipse 4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50" name="Ellipse 4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44" name="Groupe 43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45" name="Ellipse 44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6" name="Ellipse 45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7" name="Ellipse 46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35" name="Groupe 34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40" name="Ellipse 3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Ellipse 4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2" name="Ellipse 4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36" name="Groupe 35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37" name="Ellipse 36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8" name="Ellipse 37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9" name="Ellipse 38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0" name="Groupe 9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17" name="Groupe 16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26" name="Groupe 25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31" name="Ellipse 30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2" name="Ellipse 31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3" name="Ellipse 32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27" name="Groupe 26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28" name="Ellipse 27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9" name="Ellipse 28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0" name="Ellipse 29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18" name="Groupe 17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23" name="Ellipse 22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" name="Ellipse 23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5" name="Ellipse 24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9" name="Groupe 18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20" name="Ellipse 19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" name="Ellipse 20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" name="Ellipse 21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1" name="Groupe 10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12" name="Ellipse 11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" name="Ellipse 12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Ellipse 13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Ellipse 14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" name="Ellipse 15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78395320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/>
              <a:t>Démonstration : mise en temps réel </a:t>
            </a:r>
            <a:br>
              <a:rPr lang="fr-FR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28</a:t>
            </a:fld>
            <a:endParaRPr lang="en-US" dirty="0"/>
          </a:p>
        </p:txBody>
      </p:sp>
      <p:grpSp>
        <p:nvGrpSpPr>
          <p:cNvPr id="6" name="Groupe 5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7" name="Groupe 6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32" name="Groupe 31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41" name="Groupe 40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46" name="Ellipse 45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7" name="Ellipse 46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8" name="Ellipse 47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42" name="Groupe 41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43" name="Ellipse 42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4" name="Ellipse 43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5" name="Ellipse 44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33" name="Groupe 32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38" name="Ellipse 37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9" name="Ellipse 38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0" name="Ellipse 39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34" name="Groupe 33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35" name="Ellipse 34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6" name="Ellipse 35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7" name="Ellipse 36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8" name="Groupe 7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15" name="Groupe 14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24" name="Groupe 23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29" name="Ellipse 28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0" name="Ellipse 29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1" name="Ellipse 30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25" name="Groupe 24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26" name="Ellipse 25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7" name="Ellipse 26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8" name="Ellipse 27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16" name="Groupe 15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21" name="Ellipse 20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2" name="Ellipse 21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" name="Ellipse 22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7" name="Groupe 16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18" name="Ellipse 17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19" name="Ellipse 18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" name="Ellipse 19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9" name="Groupe 8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10" name="Ellipse 9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1" name="Ellipse 10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" name="Ellipse 11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" name="Ellipse 12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grpFill/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Ellipse 13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6669283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CONCLUSION</a:t>
            </a:r>
            <a:r>
              <a:rPr lang="en-US" dirty="0"/>
              <a:t/>
            </a:r>
            <a:br>
              <a:rPr lang="en-US" dirty="0"/>
            </a:br>
            <a:endParaRPr lang="fr-FR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 smtClean="0"/>
              <a:t>2015/2016</a:t>
            </a:r>
            <a:endParaRPr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29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295402" y="2706568"/>
            <a:ext cx="9601196" cy="24314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600" b="1" dirty="0">
                <a:latin typeface="Arial"/>
              </a:rPr>
              <a:t>Problème rencontré :</a:t>
            </a:r>
            <a:endParaRPr lang="fr-FR" dirty="0"/>
          </a:p>
          <a:p>
            <a:endParaRPr lang="fr-FR" dirty="0"/>
          </a:p>
          <a:p>
            <a:r>
              <a:rPr lang="fr-FR" b="1" dirty="0">
                <a:latin typeface="Arial"/>
              </a:rPr>
              <a:t>-  Élimination du bruit et extraction du rythme cardiaque :</a:t>
            </a:r>
            <a:r>
              <a:rPr lang="fr-FR" b="1" dirty="0">
                <a:solidFill>
                  <a:srgbClr val="009900"/>
                </a:solidFill>
                <a:latin typeface="Arial"/>
              </a:rPr>
              <a:t> </a:t>
            </a:r>
            <a:r>
              <a:rPr lang="fr-FR" dirty="0">
                <a:solidFill>
                  <a:srgbClr val="00CC33"/>
                </a:solidFill>
                <a:latin typeface="Arial"/>
              </a:rPr>
              <a:t>résolu LMS et Gi </a:t>
            </a:r>
            <a:r>
              <a:rPr lang="fr-FR" dirty="0" err="1">
                <a:solidFill>
                  <a:srgbClr val="00CC33"/>
                </a:solidFill>
                <a:latin typeface="Arial"/>
              </a:rPr>
              <a:t>parameter</a:t>
            </a:r>
            <a:endParaRPr lang="fr-FR" dirty="0"/>
          </a:p>
          <a:p>
            <a:r>
              <a:rPr lang="fr-FR" b="1" dirty="0">
                <a:latin typeface="Arial"/>
              </a:rPr>
              <a:t>-  Détection des </a:t>
            </a:r>
            <a:r>
              <a:rPr lang="fr-FR" b="1" dirty="0" err="1">
                <a:latin typeface="Arial"/>
              </a:rPr>
              <a:t>ROIs</a:t>
            </a:r>
            <a:r>
              <a:rPr lang="fr-FR" b="1" dirty="0">
                <a:latin typeface="Arial"/>
              </a:rPr>
              <a:t>:</a:t>
            </a:r>
            <a:r>
              <a:rPr lang="fr-FR" dirty="0">
                <a:latin typeface="Arial"/>
              </a:rPr>
              <a:t> </a:t>
            </a:r>
            <a:r>
              <a:rPr lang="fr-FR" dirty="0">
                <a:solidFill>
                  <a:srgbClr val="009933"/>
                </a:solidFill>
                <a:latin typeface="Arial"/>
              </a:rPr>
              <a:t>résolu modification de l'algorithme de Viola Jones</a:t>
            </a:r>
            <a:endParaRPr lang="fr-FR" dirty="0"/>
          </a:p>
          <a:p>
            <a:r>
              <a:rPr lang="fr-FR" b="1" dirty="0">
                <a:latin typeface="Arial"/>
              </a:rPr>
              <a:t>-  Acquisition de la vidéo en temps réel et traitement :</a:t>
            </a:r>
            <a:r>
              <a:rPr lang="fr-FR" b="1" dirty="0">
                <a:solidFill>
                  <a:srgbClr val="009933"/>
                </a:solidFill>
                <a:latin typeface="Arial"/>
              </a:rPr>
              <a:t> </a:t>
            </a:r>
            <a:r>
              <a:rPr lang="fr-FR" dirty="0">
                <a:solidFill>
                  <a:srgbClr val="009933"/>
                </a:solidFill>
                <a:latin typeface="Arial"/>
              </a:rPr>
              <a:t>résolu interface graphique 														</a:t>
            </a:r>
            <a:r>
              <a:rPr lang="fr-FR" dirty="0" smtClean="0">
                <a:solidFill>
                  <a:srgbClr val="009933"/>
                </a:solidFill>
                <a:latin typeface="Arial"/>
              </a:rPr>
              <a:t>      </a:t>
            </a:r>
            <a:r>
              <a:rPr lang="fr-FR" dirty="0" err="1" smtClean="0">
                <a:solidFill>
                  <a:srgbClr val="009933"/>
                </a:solidFill>
                <a:latin typeface="Arial"/>
              </a:rPr>
              <a:t>videoplayer</a:t>
            </a:r>
            <a:r>
              <a:rPr lang="fr-FR" dirty="0">
                <a:solidFill>
                  <a:srgbClr val="009933"/>
                </a:solidFill>
                <a:latin typeface="Arial"/>
              </a:rPr>
              <a:t>.</a:t>
            </a:r>
            <a:endParaRPr lang="fr-FR" dirty="0"/>
          </a:p>
          <a:p>
            <a:r>
              <a:rPr lang="fr-FR" b="1" dirty="0">
                <a:latin typeface="Arial"/>
              </a:rPr>
              <a:t>-  Compensation du mouvement : </a:t>
            </a:r>
            <a:r>
              <a:rPr lang="fr-FR" dirty="0">
                <a:solidFill>
                  <a:srgbClr val="CC0000"/>
                </a:solidFill>
                <a:latin typeface="Arial"/>
              </a:rPr>
              <a:t>non résolu </a:t>
            </a:r>
            <a:endParaRPr lang="fr-FR" dirty="0"/>
          </a:p>
          <a:p>
            <a:endParaRPr lang="fr-FR" dirty="0"/>
          </a:p>
        </p:txBody>
      </p:sp>
      <p:grpSp>
        <p:nvGrpSpPr>
          <p:cNvPr id="7" name="Groupe 6"/>
          <p:cNvGrpSpPr/>
          <p:nvPr/>
        </p:nvGrpSpPr>
        <p:grpSpPr>
          <a:xfrm>
            <a:off x="2555335" y="795740"/>
            <a:ext cx="6983405" cy="180282"/>
            <a:chOff x="1190171" y="795740"/>
            <a:chExt cx="6983405" cy="180282"/>
          </a:xfrm>
          <a:noFill/>
        </p:grpSpPr>
        <p:grpSp>
          <p:nvGrpSpPr>
            <p:cNvPr id="8" name="Groupe 7"/>
            <p:cNvGrpSpPr/>
            <p:nvPr/>
          </p:nvGrpSpPr>
          <p:grpSpPr>
            <a:xfrm>
              <a:off x="1190171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33" name="Groupe 32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42" name="Groupe 41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47" name="Ellipse 46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8" name="Ellipse 47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9" name="Ellipse 48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43" name="Groupe 42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44" name="Ellipse 43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5" name="Ellipse 44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46" name="Ellipse 45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34" name="Groupe 33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39" name="Ellipse 38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0" name="Ellipse 39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41" name="Ellipse 40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35" name="Groupe 34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36" name="Ellipse 35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7" name="Ellipse 36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38" name="Ellipse 37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9" name="Groupe 8"/>
            <p:cNvGrpSpPr/>
            <p:nvPr/>
          </p:nvGrpSpPr>
          <p:grpSpPr>
            <a:xfrm>
              <a:off x="4106639" y="795740"/>
              <a:ext cx="2850520" cy="180282"/>
              <a:chOff x="1190171" y="795740"/>
              <a:chExt cx="2850520" cy="180282"/>
            </a:xfrm>
            <a:grpFill/>
          </p:grpSpPr>
          <p:grpSp>
            <p:nvGrpSpPr>
              <p:cNvPr id="16" name="Groupe 15"/>
              <p:cNvGrpSpPr/>
              <p:nvPr/>
            </p:nvGrpSpPr>
            <p:grpSpPr>
              <a:xfrm>
                <a:off x="1190171" y="795742"/>
                <a:ext cx="1393170" cy="180280"/>
                <a:chOff x="1190171" y="795742"/>
                <a:chExt cx="1393170" cy="180280"/>
              </a:xfrm>
              <a:grpFill/>
            </p:grpSpPr>
            <p:grpSp>
              <p:nvGrpSpPr>
                <p:cNvPr id="25" name="Groupe 24"/>
                <p:cNvGrpSpPr/>
                <p:nvPr/>
              </p:nvGrpSpPr>
              <p:grpSpPr>
                <a:xfrm>
                  <a:off x="1190171" y="795906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30" name="Ellipse 29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1" name="Ellipse 30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32" name="Ellipse 31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grpSp>
              <p:nvGrpSpPr>
                <p:cNvPr id="26" name="Groupe 25"/>
                <p:cNvGrpSpPr/>
                <p:nvPr/>
              </p:nvGrpSpPr>
              <p:grpSpPr>
                <a:xfrm>
                  <a:off x="1919600" y="795742"/>
                  <a:ext cx="663741" cy="180116"/>
                  <a:chOff x="1190171" y="795906"/>
                  <a:chExt cx="663741" cy="180116"/>
                </a:xfrm>
                <a:grpFill/>
              </p:grpSpPr>
              <p:sp>
                <p:nvSpPr>
                  <p:cNvPr id="27" name="Ellipse 26"/>
                  <p:cNvSpPr/>
                  <p:nvPr/>
                </p:nvSpPr>
                <p:spPr>
                  <a:xfrm>
                    <a:off x="1190171" y="795906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8" name="Ellipse 27"/>
                  <p:cNvSpPr/>
                  <p:nvPr/>
                </p:nvSpPr>
                <p:spPr>
                  <a:xfrm>
                    <a:off x="1673912" y="796022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29" name="Ellipse 28"/>
                  <p:cNvSpPr/>
                  <p:nvPr/>
                </p:nvSpPr>
                <p:spPr>
                  <a:xfrm>
                    <a:off x="1433405" y="796020"/>
                    <a:ext cx="180000" cy="180000"/>
                  </a:xfrm>
                  <a:prstGeom prst="ellipse">
                    <a:avLst/>
                  </a:prstGeom>
                  <a:solidFill>
                    <a:schemeClr val="accent1">
                      <a:lumMod val="75000"/>
                    </a:schemeClr>
                  </a:solidFill>
                  <a:ln w="38100"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</p:grpSp>
          <p:grpSp>
            <p:nvGrpSpPr>
              <p:cNvPr id="17" name="Groupe 16"/>
              <p:cNvGrpSpPr/>
              <p:nvPr/>
            </p:nvGrpSpPr>
            <p:grpSpPr>
              <a:xfrm>
                <a:off x="2647521" y="795904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22" name="Ellipse 21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3" name="Ellipse 22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4" name="Ellipse 23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18" name="Groupe 17"/>
              <p:cNvGrpSpPr/>
              <p:nvPr/>
            </p:nvGrpSpPr>
            <p:grpSpPr>
              <a:xfrm>
                <a:off x="3376950" y="795740"/>
                <a:ext cx="663741" cy="180116"/>
                <a:chOff x="1190171" y="795906"/>
                <a:chExt cx="663741" cy="180116"/>
              </a:xfrm>
              <a:grpFill/>
            </p:grpSpPr>
            <p:sp>
              <p:nvSpPr>
                <p:cNvPr id="19" name="Ellipse 18"/>
                <p:cNvSpPr/>
                <p:nvPr/>
              </p:nvSpPr>
              <p:spPr>
                <a:xfrm>
                  <a:off x="1190171" y="795906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0" name="Ellipse 19"/>
                <p:cNvSpPr/>
                <p:nvPr/>
              </p:nvSpPr>
              <p:spPr>
                <a:xfrm>
                  <a:off x="1673912" y="796022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21" name="Ellipse 20"/>
                <p:cNvSpPr/>
                <p:nvPr/>
              </p:nvSpPr>
              <p:spPr>
                <a:xfrm>
                  <a:off x="1433405" y="796020"/>
                  <a:ext cx="180000" cy="180000"/>
                </a:xfrm>
                <a:prstGeom prst="ellipse">
                  <a:avLst/>
                </a:prstGeom>
                <a:solidFill>
                  <a:schemeClr val="accent1">
                    <a:lumMod val="75000"/>
                  </a:schemeClr>
                </a:solidFill>
                <a:ln w="381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</p:grpSp>
        <p:grpSp>
          <p:nvGrpSpPr>
            <p:cNvPr id="10" name="Groupe 9"/>
            <p:cNvGrpSpPr/>
            <p:nvPr/>
          </p:nvGrpSpPr>
          <p:grpSpPr>
            <a:xfrm>
              <a:off x="7023640" y="795740"/>
              <a:ext cx="1149936" cy="180280"/>
              <a:chOff x="5959623" y="948140"/>
              <a:chExt cx="1149936" cy="180280"/>
            </a:xfrm>
            <a:grpFill/>
          </p:grpSpPr>
          <p:sp>
            <p:nvSpPr>
              <p:cNvPr id="11" name="Ellipse 10"/>
              <p:cNvSpPr/>
              <p:nvPr/>
            </p:nvSpPr>
            <p:spPr>
              <a:xfrm>
                <a:off x="6200130" y="948420"/>
                <a:ext cx="180000" cy="180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2" name="Ellipse 11"/>
              <p:cNvSpPr/>
              <p:nvPr/>
            </p:nvSpPr>
            <p:spPr>
              <a:xfrm>
                <a:off x="5959623" y="948418"/>
                <a:ext cx="180000" cy="180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3" name="Ellipse 12"/>
              <p:cNvSpPr/>
              <p:nvPr/>
            </p:nvSpPr>
            <p:spPr>
              <a:xfrm>
                <a:off x="6445818" y="948140"/>
                <a:ext cx="180000" cy="180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4" name="Ellipse 13"/>
              <p:cNvSpPr/>
              <p:nvPr/>
            </p:nvSpPr>
            <p:spPr>
              <a:xfrm>
                <a:off x="6929559" y="948256"/>
                <a:ext cx="180000" cy="18000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5" name="Ellipse 14"/>
              <p:cNvSpPr/>
              <p:nvPr/>
            </p:nvSpPr>
            <p:spPr>
              <a:xfrm>
                <a:off x="6689052" y="948254"/>
                <a:ext cx="180000" cy="180000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 w="381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8558189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que">
  <a:themeElements>
    <a:clrScheme name="Organique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que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qu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634</TotalTime>
  <Words>298</Words>
  <Application>Microsoft Office PowerPoint</Application>
  <PresentationFormat>Grand écran</PresentationFormat>
  <Paragraphs>150</Paragraphs>
  <Slides>29</Slides>
  <Notes>4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 Math</vt:lpstr>
      <vt:lpstr>Garamond</vt:lpstr>
      <vt:lpstr>Organique</vt:lpstr>
      <vt:lpstr>PROJET THÉMATIQUE</vt:lpstr>
      <vt:lpstr>INTRODUCTION</vt:lpstr>
      <vt:lpstr>SOMMAIRE</vt:lpstr>
      <vt:lpstr>PRINCIPE DE LA DÉTECTION CARDIAQUE</vt:lpstr>
      <vt:lpstr>ACTIVITÉ CARDIAQUE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FILTRAGE TEMPORELLE</vt:lpstr>
      <vt:lpstr>FENÊTRAGE GLISSANT</vt:lpstr>
      <vt:lpstr>PROBLÈME D’ILLUMINATION </vt:lpstr>
      <vt:lpstr>NLMS (Normalized Least Mean Square)</vt:lpstr>
      <vt:lpstr>NLMS</vt:lpstr>
      <vt:lpstr>NLMS</vt:lpstr>
      <vt:lpstr>Présentation PowerPoint</vt:lpstr>
      <vt:lpstr>Présentation PowerPoint</vt:lpstr>
      <vt:lpstr>Présentation PowerPoint</vt:lpstr>
      <vt:lpstr>PROTOCOLE EXPÉRIMENTAL</vt:lpstr>
      <vt:lpstr>PROTOCOLE EXPÉRIMENTAL</vt:lpstr>
      <vt:lpstr>PROTOCOLE EXPÉRIMENTAL</vt:lpstr>
      <vt:lpstr>PROTOCOLE EXPÉRIMENTAL</vt:lpstr>
      <vt:lpstr>PROTOCOLE EXPÉRIMENTAL</vt:lpstr>
      <vt:lpstr>Présentation PowerPoint</vt:lpstr>
      <vt:lpstr>Présentation PowerPoint</vt:lpstr>
      <vt:lpstr>Présentation PowerPoint</vt:lpstr>
      <vt:lpstr>Démonstration : mise en temps réel  </vt:lpstr>
      <vt:lpstr>CONCLUSION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THÉMATIQUE</dc:title>
  <dc:creator>WillyWilly</dc:creator>
  <cp:lastModifiedBy>YOUSSEF</cp:lastModifiedBy>
  <cp:revision>27</cp:revision>
  <dcterms:created xsi:type="dcterms:W3CDTF">2016-05-22T11:47:00Z</dcterms:created>
  <dcterms:modified xsi:type="dcterms:W3CDTF">2016-05-23T15:01:58Z</dcterms:modified>
</cp:coreProperties>
</file>